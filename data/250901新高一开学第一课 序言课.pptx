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</p:sldMasterIdLst>
  <p:notesMasterIdLst>
    <p:notesMasterId r:id="rId30"/>
  </p:notesMasterIdLst>
  <p:sldIdLst>
    <p:sldId id="398" r:id="rId10"/>
    <p:sldId id="366" r:id="rId11"/>
    <p:sldId id="373" r:id="rId12"/>
    <p:sldId id="374" r:id="rId13"/>
    <p:sldId id="375" r:id="rId14"/>
    <p:sldId id="376" r:id="rId15"/>
    <p:sldId id="399" r:id="rId16"/>
    <p:sldId id="400" r:id="rId17"/>
    <p:sldId id="413" r:id="rId18"/>
    <p:sldId id="401" r:id="rId19"/>
    <p:sldId id="402" r:id="rId20"/>
    <p:sldId id="339" r:id="rId21"/>
    <p:sldId id="414" r:id="rId22"/>
    <p:sldId id="415" r:id="rId23"/>
    <p:sldId id="416" r:id="rId24"/>
    <p:sldId id="417" r:id="rId25"/>
    <p:sldId id="418" r:id="rId26"/>
    <p:sldId id="377" r:id="rId27"/>
    <p:sldId id="378" r:id="rId28"/>
    <p:sldId id="379" r:id="rId29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  <p:sldId id="389" r:id="rId39"/>
    <p:sldId id="391" r:id="rId40"/>
    <p:sldId id="392" r:id="rId41"/>
    <p:sldId id="393" r:id="rId42"/>
    <p:sldId id="369" r:id="rId43"/>
    <p:sldId id="403" r:id="rId44"/>
    <p:sldId id="405" r:id="rId45"/>
    <p:sldId id="406" r:id="rId46"/>
    <p:sldId id="404" r:id="rId47"/>
    <p:sldId id="407" r:id="rId48"/>
    <p:sldId id="408" r:id="rId49"/>
    <p:sldId id="409" r:id="rId50"/>
    <p:sldId id="410" r:id="rId51"/>
    <p:sldId id="411" r:id="rId52"/>
    <p:sldId id="412" r:id="rId53"/>
    <p:sldId id="397" r:id="rId5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4" d="100"/>
          <a:sy n="94" d="100"/>
        </p:scale>
        <p:origin x="132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44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9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0" Type="http://schemas.openxmlformats.org/officeDocument/2006/relationships/slide" Target="slides/slide3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75B81-2094-43E9-938C-9F1607FA14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F9BE1-321F-43DF-865E-1A50F4FAB1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CF18C0-2C55-4C58-B7D5-C6ECE5138F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168BE4-59C8-4193-9BCB-84E44B69AF2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B90743-F7C9-4829-ACA8-C74F1D12BF97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D531AB8-90F3-4565-95BB-AE1AA7749F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38494E-2786-4D37-A767-48712A8F32C0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18C9BB-5AF7-4C9B-BE7C-3D79F881AA3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452FC1-95AE-45A4-86B3-E20170549C1A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492219-82F5-4BC2-B727-4D13D0BA2E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391DA4-B4E1-42B8-BD45-DEC6080093F2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2F6AD8-B97A-4162-A8FD-5D23476B226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421640-396F-4586-A2AA-CEDF312C7E9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5F1BFF-713D-4D12-94A4-1F35DFC5C34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4A605C-48D2-425E-AFF5-95CE3FBF6541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C20EC7-1A40-41F5-86C2-A3E9F2AD56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3E6312-B072-4279-9BEC-0C37B0E7E68D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DC7790-9873-4CCA-868F-08FA306D1E9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9BF509-F1BC-4737-8B86-0F679B014242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E8587E-CF23-412F-BC06-2F9A646028C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524B7B-8D95-494E-AF60-2A3AD5D61679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CEA43B-9AB0-4E26-A4AD-632AA6C1A682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865661-FBB9-4A1A-BD4D-B94CF5A7C36B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A4C34B-4D77-4011-9A53-1F784613649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5BE9E8-5E1D-48F2-A52C-0DC93357F91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168BE4-59C8-4193-9BCB-84E44B69AF2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B90743-F7C9-4829-ACA8-C74F1D12BF97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D531AB8-90F3-4565-95BB-AE1AA7749F7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38494E-2786-4D37-A767-48712A8F32C0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18C9BB-5AF7-4C9B-BE7C-3D79F881AA3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452FC1-95AE-45A4-86B3-E20170549C1A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492219-82F5-4BC2-B727-4D13D0BA2ED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391DA4-B4E1-42B8-BD45-DEC6080093F2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2F6AD8-B97A-4162-A8FD-5D23476B226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421640-396F-4586-A2AA-CEDF312C7E9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5F1BFF-713D-4D12-94A4-1F35DFC5C34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4A605C-48D2-425E-AFF5-95CE3FBF6541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C20EC7-1A40-41F5-86C2-A3E9F2AD56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23E6312-B072-4279-9BEC-0C37B0E7E68D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DC7790-9873-4CCA-868F-08FA306D1E9F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9BF509-F1BC-4737-8B86-0F679B014242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E8587E-CF23-412F-BC06-2F9A646028C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524B7B-8D95-494E-AF60-2A3AD5D61679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CEA43B-9AB0-4E26-A4AD-632AA6C1A682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865661-FBB9-4A1A-BD4D-B94CF5A7C36B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A4C34B-4D77-4011-9A53-1F784613649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5BE9E8-5E1D-48F2-A52C-0DC93357F91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4D262-4CE8-46EA-A65E-AF8FBD6A2CB3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E8110-5A4B-4338-B940-2513C7841965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9B8BE-E21C-41B9-84ED-DFCA0B80560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E16B2-3702-4D87-B9A6-58C63A1FCD8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30496-79FB-4703-A2CC-D69362D531E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CA392-8EA6-41CD-92D2-C98580532FD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19CCB-26B2-401E-B6EF-EFEC2E980285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FFC0D-0EEC-4DA4-861D-489F166F6BE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AB2E-5183-4E4F-A3EE-C6B4781BE4F5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757A7-6FE2-4734-BD7E-48C69D46F39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8664B-E46C-4033-93DF-AA470717484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0F27B-A45D-4ED0-89D0-C05A38B1B90C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875B7-4918-406D-9DDE-24C45567723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EEC89-8B28-45EB-94F3-39FA5F078B6C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A1DDFE-FE91-47E3-9CCA-0132D0FDC8B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43BBC-B4F7-4663-89EE-D9A64DAA0A2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895C9-2DAB-460F-B505-5A7B57760ABC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02695-3807-4D6C-9953-263FCE7C737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70623-780D-42F4-953B-3A7F3071B6CA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A9381-62F1-487B-A386-73053F124A8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09DED-29DF-402B-88FA-D4C1F4670DE7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B7D25-43A3-43DA-B5CD-8FA3DA03FAA5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AA474-A68C-44B2-ADA0-3FDA30D04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66E2C-C50A-4E4A-97DF-AFA610E729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6AF5FB-77FB-4AEF-9333-388D80037F7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544A596-7082-40BC-9BCC-DAB28433935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6AF5FB-77FB-4AEF-9333-388D80037F7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544A596-7082-40BC-9BCC-DAB28433935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8D4D4D7-A318-4ECF-8526-3E35788F44A5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4958053-0F9D-41DE-8223-73AB6A6C19E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72241-9DD2-43BF-A961-1CC238E05E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6BAAE-2E43-4AED-B99A-9598409544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C72241-9DD2-43BF-A961-1CC238E05EEE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56BAAE-2E43-4AED-B99A-9598409544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slide" Target="slide18.xml"/><Relationship Id="rId3" Type="http://schemas.openxmlformats.org/officeDocument/2006/relationships/slide" Target="slide12.xml"/><Relationship Id="rId2" Type="http://schemas.openxmlformats.org/officeDocument/2006/relationships/slide" Target="slide5.xml"/><Relationship Id="rId1" Type="http://schemas.openxmlformats.org/officeDocument/2006/relationships/slide" Target="slid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slide" Target="slid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slide" Target="slide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slide" Target="slide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slide" Target="slid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5.xml"/><Relationship Id="rId4" Type="http://schemas.openxmlformats.org/officeDocument/2006/relationships/slide" Target="slide2.xml"/><Relationship Id="rId3" Type="http://schemas.openxmlformats.org/officeDocument/2006/relationships/slide" Target="slide24.xml"/><Relationship Id="rId2" Type="http://schemas.openxmlformats.org/officeDocument/2006/relationships/slide" Target="slide21.xml"/><Relationship Id="rId1" Type="http://schemas.openxmlformats.org/officeDocument/2006/relationships/slide" Target="slide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6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7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988842"/>
            <a:ext cx="9144000" cy="1470025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altLang="zh-CN" sz="6000" b="1" dirty="0" smtClean="0"/>
              <a:t>25</a:t>
            </a:r>
            <a:r>
              <a:rPr lang="zh-CN" altLang="en-US" sz="6000" b="1" dirty="0" smtClean="0"/>
              <a:t>级</a:t>
            </a:r>
            <a:r>
              <a:rPr lang="en-US" altLang="zh-CN" sz="6000" b="1" dirty="0" smtClean="0"/>
              <a:t>28</a:t>
            </a:r>
            <a:r>
              <a:rPr lang="zh-CN" altLang="en-US" sz="6000" b="1" dirty="0" smtClean="0"/>
              <a:t>届高一开学第一课</a:t>
            </a:r>
            <a:endParaRPr lang="zh-CN" altLang="en-US" sz="6000" b="1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008112"/>
          </a:xfrm>
          <a:solidFill>
            <a:srgbClr val="FFC000"/>
          </a:solidFill>
        </p:spPr>
        <p:txBody>
          <a:bodyPr/>
          <a:lstStyle/>
          <a:p>
            <a:r>
              <a:rPr lang="zh-CN" altLang="en-US" b="1" dirty="0"/>
              <a:t>自我介绍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12776"/>
            <a:ext cx="8712968" cy="54452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张文</a:t>
            </a:r>
            <a:r>
              <a:rPr lang="en-US" altLang="zh-CN" sz="2800" b="1" dirty="0"/>
              <a:t> 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高级教师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strike="sngStrike" dirty="0"/>
              <a:t>校学科带头人</a:t>
            </a:r>
            <a:endParaRPr lang="en-US" altLang="zh-CN" sz="2800" b="1" strike="sngStrike" dirty="0"/>
          </a:p>
          <a:p>
            <a:pPr>
              <a:lnSpc>
                <a:spcPct val="150000"/>
              </a:lnSpc>
            </a:pPr>
            <a:r>
              <a:rPr lang="zh-CN" altLang="en-US" sz="2800" b="1" strike="sngStrike" dirty="0"/>
              <a:t>区骨干教师</a:t>
            </a:r>
            <a:r>
              <a:rPr lang="zh-CN" altLang="en-US" sz="2800" b="1" dirty="0"/>
              <a:t>（全区高中语文</a:t>
            </a:r>
            <a:r>
              <a:rPr lang="en-US" altLang="zh-CN" sz="2800" b="1" dirty="0"/>
              <a:t>13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11</a:t>
            </a:r>
            <a:r>
              <a:rPr lang="zh-CN" altLang="en-US" sz="2800" b="1" dirty="0"/>
              <a:t>人）</a:t>
            </a:r>
            <a:endParaRPr lang="en-US" altLang="zh-CN" sz="2800" b="1" dirty="0"/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prstClr val="black"/>
                </a:solidFill>
              </a:rPr>
              <a:t>区学科带头人</a:t>
            </a:r>
            <a:r>
              <a:rPr lang="zh-CN" altLang="en-US" sz="2800" b="1" dirty="0"/>
              <a:t>（</a:t>
            </a:r>
            <a:r>
              <a:rPr lang="zh-CN" altLang="en-US" sz="2800" b="1" dirty="0">
                <a:solidFill>
                  <a:prstClr val="black"/>
                </a:solidFill>
              </a:rPr>
              <a:t>全区高中语文</a:t>
            </a:r>
            <a:r>
              <a:rPr lang="en-US" altLang="zh-CN" sz="2800" b="1" dirty="0">
                <a:solidFill>
                  <a:prstClr val="black"/>
                </a:solidFill>
              </a:rPr>
              <a:t>7</a:t>
            </a:r>
            <a:r>
              <a:rPr lang="zh-CN" altLang="en-US" sz="2800" b="1" dirty="0">
                <a:solidFill>
                  <a:prstClr val="black"/>
                </a:solidFill>
              </a:rPr>
              <a:t>人）</a:t>
            </a:r>
            <a:endParaRPr lang="en-US" altLang="zh-CN" sz="2800" b="1" dirty="0">
              <a:solidFill>
                <a:prstClr val="black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solidFill>
                  <a:prstClr val="black"/>
                </a:solidFill>
              </a:rPr>
              <a:t>视力不佳</a:t>
            </a:r>
            <a:endParaRPr lang="en-US" altLang="zh-CN" sz="28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8" y="548682"/>
            <a:ext cx="8383321" cy="57214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2" y="476674"/>
            <a:ext cx="8508265" cy="579350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6" y="548682"/>
            <a:ext cx="8248669" cy="586551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4666"/>
            <a:ext cx="8701774" cy="609815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143000"/>
          </a:xfrm>
          <a:solidFill>
            <a:srgbClr val="FFFF00"/>
          </a:solidFill>
        </p:spPr>
        <p:txBody>
          <a:bodyPr/>
          <a:lstStyle/>
          <a:p>
            <a:r>
              <a:rPr lang="zh-CN" altLang="en-US" b="1" dirty="0" smtClean="0"/>
              <a:t>自我吹嘘？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/>
          </a:bodyPr>
          <a:lstStyle/>
          <a:p>
            <a:r>
              <a:rPr lang="zh-CN" altLang="en-US" sz="4400" b="1" dirty="0"/>
              <a:t>对</a:t>
            </a:r>
            <a:r>
              <a:rPr lang="zh-CN" altLang="en-US" sz="4400" b="1" dirty="0" smtClean="0"/>
              <a:t>教授专业知识</a:t>
            </a:r>
            <a:r>
              <a:rPr lang="zh-CN" altLang="en-US" sz="4400" b="1" dirty="0"/>
              <a:t>与</a:t>
            </a:r>
            <a:r>
              <a:rPr lang="zh-CN" altLang="en-US" sz="4400" b="1" dirty="0" smtClean="0"/>
              <a:t>能力、指导学习的</a:t>
            </a:r>
            <a:r>
              <a:rPr lang="zh-CN" altLang="en-US" sz="4400" b="1" dirty="0"/>
              <a:t>老师应有的态度：</a:t>
            </a:r>
            <a:endParaRPr lang="zh-CN" altLang="en-US" sz="4400" b="1" dirty="0"/>
          </a:p>
          <a:p>
            <a:pPr marL="0" indent="0">
              <a:buNone/>
            </a:pPr>
            <a:r>
              <a:rPr lang="zh-CN" altLang="en-US" sz="6000" b="1" dirty="0"/>
              <a:t>尊、敬、信、亲其师→信其</a:t>
            </a:r>
            <a:r>
              <a:rPr lang="zh-CN" altLang="en-US" sz="6000" b="1" dirty="0" smtClean="0"/>
              <a:t>道</a:t>
            </a:r>
            <a:endParaRPr lang="zh-CN" alt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96752"/>
            <a:ext cx="8928992" cy="5328592"/>
          </a:xfrm>
        </p:spPr>
        <p:txBody>
          <a:bodyPr>
            <a:noAutofit/>
          </a:bodyPr>
          <a:lstStyle/>
          <a:p>
            <a:pPr lvl="1"/>
            <a:r>
              <a:rPr lang="zh-CN" altLang="zh-CN" sz="3200" b="1" dirty="0" smtClean="0"/>
              <a:t>认真听老师话（不管是否喜欢这个老师），从来没有将帅与士卒貌不合、心不齐能打赢仗的。</a:t>
            </a:r>
            <a:endParaRPr lang="zh-CN" altLang="zh-CN" sz="3200" b="1" dirty="0" smtClean="0"/>
          </a:p>
          <a:p>
            <a:pPr lvl="1"/>
            <a:r>
              <a:rPr lang="zh-CN" altLang="zh-CN" sz="3200" b="1" dirty="0" smtClean="0"/>
              <a:t>关于作业</a:t>
            </a:r>
            <a:endParaRPr lang="en-US" altLang="zh-CN" sz="3200" b="1" dirty="0" smtClean="0"/>
          </a:p>
          <a:p>
            <a:pPr marL="457200" lvl="1" indent="0">
              <a:buNone/>
            </a:pPr>
            <a:r>
              <a:rPr lang="zh-CN" altLang="zh-CN" sz="3200" b="1" dirty="0" smtClean="0"/>
              <a:t>——不是所有的书面作业都会有</a:t>
            </a:r>
            <a:r>
              <a:rPr lang="zh-CN" altLang="en-US" sz="3200" b="1" dirty="0" smtClean="0"/>
              <a:t>详细的</a:t>
            </a:r>
            <a:r>
              <a:rPr lang="zh-CN" altLang="zh-CN" sz="3200" b="1" dirty="0" smtClean="0"/>
              <a:t>批改痕迹。</a:t>
            </a:r>
            <a:endParaRPr lang="en-US" altLang="zh-CN" sz="3200" b="1" dirty="0" smtClean="0"/>
          </a:p>
          <a:p>
            <a:pPr marL="457200" lvl="1" indent="0">
              <a:buNone/>
            </a:pPr>
            <a:r>
              <a:rPr lang="en-US" altLang="zh-CN" sz="3200" b="1" dirty="0" smtClean="0"/>
              <a:t> ——</a:t>
            </a:r>
            <a:r>
              <a:rPr lang="zh-CN" altLang="zh-CN" sz="3200" b="1" dirty="0" smtClean="0"/>
              <a:t>有些作业会采用面批的形式；</a:t>
            </a:r>
            <a:endParaRPr lang="en-US" altLang="zh-CN" sz="3200" b="1" dirty="0" smtClean="0"/>
          </a:p>
          <a:p>
            <a:pPr marL="457200" lvl="1" indent="0">
              <a:buNone/>
            </a:pPr>
            <a:r>
              <a:rPr lang="en-US" altLang="zh-CN" sz="3200" b="1" dirty="0" smtClean="0"/>
              <a:t> ——</a:t>
            </a:r>
            <a:r>
              <a:rPr lang="zh-CN" altLang="zh-CN" sz="3200" b="1" dirty="0" smtClean="0"/>
              <a:t>有些作业布置的目的</a:t>
            </a:r>
            <a:r>
              <a:rPr lang="zh-CN" altLang="en-US" sz="3200" b="1" dirty="0" smtClean="0"/>
              <a:t>，</a:t>
            </a:r>
            <a:r>
              <a:rPr lang="zh-CN" altLang="zh-CN" sz="3200" b="1" dirty="0" smtClean="0"/>
              <a:t>就是重在学生亲自去做这个过程。</a:t>
            </a:r>
            <a:endParaRPr lang="zh-CN" altLang="zh-CN" sz="3200" b="1" dirty="0" smtClean="0"/>
          </a:p>
          <a:p>
            <a:pPr lvl="1"/>
            <a:r>
              <a:rPr lang="zh-CN" altLang="en-US" sz="3200" b="1" dirty="0" smtClean="0"/>
              <a:t>希望</a:t>
            </a:r>
            <a:r>
              <a:rPr lang="zh-CN" altLang="zh-CN" sz="3200" b="1" dirty="0" smtClean="0"/>
              <a:t>与老师经常沟通。</a:t>
            </a:r>
            <a:endParaRPr lang="en-US" altLang="zh-CN" sz="3200" b="1" dirty="0" smtClean="0"/>
          </a:p>
          <a:p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-180528" y="0"/>
            <a:ext cx="9469560" cy="114300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marL="0" lvl="0" indent="0">
              <a:lnSpc>
                <a:spcPct val="200000"/>
              </a:lnSpc>
            </a:pPr>
            <a:r>
              <a:rPr lang="zh-CN" altLang="zh-C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对老师</a:t>
            </a:r>
            <a:r>
              <a:rPr lang="zh-CN" alt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</a:t>
            </a:r>
            <a:r>
              <a:rPr lang="zh-CN" altLang="zh-CN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能以</a:t>
            </a:r>
            <a:r>
              <a:rPr lang="zh-CN" altLang="zh-C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理解合作</a:t>
            </a:r>
            <a:r>
              <a:rPr lang="zh-CN" altLang="zh-CN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zh-CN" alt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理性</a:t>
            </a:r>
            <a:r>
              <a:rPr lang="zh-CN" altLang="zh-CN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态度</a:t>
            </a:r>
            <a:r>
              <a:rPr lang="zh-CN" altLang="zh-CN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对待</a:t>
            </a:r>
            <a:endParaRPr lang="zh-CN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5301" y="692696"/>
            <a:ext cx="8151155" cy="5961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36712"/>
            <a:ext cx="9144000" cy="2952328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67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听老师的话</a:t>
            </a:r>
            <a:r>
              <a:rPr lang="zh-CN" altLang="en-US" sz="67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br>
              <a:rPr lang="en-US" altLang="zh-CN" sz="67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CN" altLang="en-US" sz="67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发挥主观能动性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3789040"/>
            <a:ext cx="9036496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在老师的指导下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用正确的方法</a:t>
            </a:r>
            <a:r>
              <a:rPr kumimoji="0" lang="zh-CN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积极、主动地</a:t>
            </a:r>
            <a:r>
              <a:rPr kumimoji="0" lang="zh-CN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学习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做</a:t>
            </a:r>
            <a:r>
              <a:rPr kumimoji="0" lang="zh-CN" altLang="zh-CN" sz="4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建构</a:t>
            </a:r>
            <a:r>
              <a:rPr kumimoji="0" lang="zh-CN" altLang="zh-CN" sz="40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者</a:t>
            </a:r>
            <a:r>
              <a:rPr kumimoji="0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br>
              <a:rPr kumimoji="0" lang="zh-CN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b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116632"/>
            <a:ext cx="583264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如何学习</a:t>
            </a: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——</a:t>
            </a:r>
            <a:br>
              <a:rPr kumimoji="0" lang="en-US" altLang="zh-CN" sz="4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b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4624"/>
            <a:ext cx="9144000" cy="1143000"/>
          </a:xfrm>
          <a:solidFill>
            <a:srgbClr val="FFFF00"/>
          </a:solidFill>
        </p:spPr>
        <p:txBody>
          <a:bodyPr/>
          <a:lstStyle/>
          <a:p>
            <a:pPr>
              <a:defRPr/>
            </a:pP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养成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良好学习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习惯</a:t>
            </a:r>
            <a:endParaRPr lang="zh-CN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68413"/>
            <a:ext cx="8604250" cy="4525962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 smtClean="0"/>
              <a:t>高中语文学习，</a:t>
            </a:r>
            <a:r>
              <a:rPr lang="zh-CN" altLang="en-US" b="1" dirty="0" smtClean="0">
                <a:solidFill>
                  <a:srgbClr val="FF0000"/>
                </a:solidFill>
              </a:rPr>
              <a:t>学习习惯</a:t>
            </a:r>
            <a:r>
              <a:rPr lang="zh-CN" altLang="en-US" b="1" dirty="0" smtClean="0"/>
              <a:t>至关重要。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习惯决定命运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 smtClean="0"/>
              <a:t>            所以，除了学习语文知识、培养能力外，</a:t>
            </a:r>
            <a:r>
              <a:rPr lang="zh-CN" altLang="en-US" b="1" dirty="0" smtClean="0">
                <a:solidFill>
                  <a:srgbClr val="FF0000"/>
                </a:solidFill>
              </a:rPr>
              <a:t>贯穿始终的是养成良好的学习习惯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  <a:solidFill>
            <a:srgbClr val="FFC000"/>
          </a:solidFill>
        </p:spPr>
        <p:txBody>
          <a:bodyPr/>
          <a:lstStyle/>
          <a:p>
            <a:r>
              <a:rPr lang="zh-CN" altLang="en-US" b="1" dirty="0" smtClean="0"/>
              <a:t>语文</a:t>
            </a:r>
            <a:r>
              <a:rPr lang="zh-CN" altLang="en-US" b="1" dirty="0"/>
              <a:t> </a:t>
            </a:r>
            <a:r>
              <a:rPr lang="zh-CN" altLang="en-US" b="1" dirty="0" smtClean="0"/>
              <a:t>学什么？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5139" y="908720"/>
            <a:ext cx="9144000" cy="5832648"/>
          </a:xfrm>
        </p:spPr>
        <p:txBody>
          <a:bodyPr>
            <a:normAutofit fontScale="85000" lnSpcReduction="10000"/>
          </a:bodyPr>
          <a:lstStyle/>
          <a:p>
            <a:pPr marL="0" indent="0" defTabSz="457200">
              <a:spcBef>
                <a:spcPts val="0"/>
              </a:spcBef>
              <a:buNone/>
            </a:pPr>
            <a:r>
              <a:rPr lang="zh-CN" altLang="en-US" sz="42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“语文是一门让人</a:t>
            </a:r>
            <a:r>
              <a:rPr lang="zh-CN" altLang="en-US" sz="4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聪明</a:t>
            </a:r>
            <a:r>
              <a:rPr lang="zh-CN" altLang="en-US" sz="42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起来的学科”</a:t>
            </a:r>
            <a:endParaRPr lang="en-US" altLang="zh-CN" sz="42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defTabSz="457200">
              <a:spcBef>
                <a:spcPts val="0"/>
              </a:spcBef>
              <a:buNone/>
            </a:pPr>
            <a:r>
              <a:rPr lang="en-US" altLang="zh-CN" sz="42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          </a:t>
            </a:r>
            <a:r>
              <a:rPr lang="en-US" altLang="zh-CN" sz="3800" b="1" dirty="0">
                <a:solidFill>
                  <a:prstClr val="black"/>
                </a:solidFill>
                <a:latin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</a:rPr>
              <a:t>莫锦怀</a:t>
            </a:r>
            <a:endParaRPr lang="en-US" altLang="zh-CN" sz="28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70000"/>
              </a:lnSpc>
            </a:pPr>
            <a:r>
              <a:rPr lang="zh-CN" altLang="en-US" b="1" u="sng" dirty="0" smtClean="0">
                <a:solidFill>
                  <a:srgbClr val="FF0000"/>
                </a:solidFill>
              </a:rPr>
              <a:t>理解能力</a:t>
            </a:r>
            <a:r>
              <a:rPr lang="en-US" altLang="zh-CN" sz="2400" dirty="0"/>
              <a:t>—</a:t>
            </a:r>
            <a:r>
              <a:rPr lang="zh-CN" altLang="en-US" sz="2400" dirty="0"/>
              <a:t>（阅读理解）</a:t>
            </a:r>
            <a:r>
              <a:rPr lang="zh-CN" altLang="en-US" sz="2400" b="1" dirty="0">
                <a:solidFill>
                  <a:srgbClr val="7030A0"/>
                </a:solidFill>
              </a:rPr>
              <a:t>写了什么，怎么写的，为什么这么写</a:t>
            </a:r>
            <a:endParaRPr lang="en-US" altLang="zh-CN" sz="2400" dirty="0"/>
          </a:p>
          <a:p>
            <a:pPr lvl="0">
              <a:lnSpc>
                <a:spcPct val="170000"/>
              </a:lnSpc>
            </a:pPr>
            <a:r>
              <a:rPr lang="zh-CN" altLang="en-US" b="1" u="sng" dirty="0" smtClean="0">
                <a:solidFill>
                  <a:srgbClr val="FF0000"/>
                </a:solidFill>
              </a:rPr>
              <a:t>表达能力</a:t>
            </a:r>
            <a:r>
              <a:rPr lang="en-US" altLang="zh-CN" sz="2400" dirty="0"/>
              <a:t>—</a:t>
            </a:r>
            <a:r>
              <a:rPr lang="zh-CN" altLang="en-US" sz="2400" dirty="0"/>
              <a:t>（写作、答题的书面文字表述）</a:t>
            </a:r>
            <a:endParaRPr lang="en-US" altLang="zh-CN" sz="2400" dirty="0"/>
          </a:p>
          <a:p>
            <a:pPr lvl="0">
              <a:lnSpc>
                <a:spcPct val="170000"/>
              </a:lnSpc>
            </a:pPr>
            <a:r>
              <a:rPr lang="zh-CN" altLang="en-US" b="1" i="1" u="sng" dirty="0" smtClean="0">
                <a:solidFill>
                  <a:srgbClr val="FF0000"/>
                </a:solidFill>
              </a:rPr>
              <a:t>思考推理判断能力</a:t>
            </a:r>
            <a:r>
              <a:rPr lang="en-US" altLang="zh-CN" sz="2400" dirty="0"/>
              <a:t>—</a:t>
            </a:r>
            <a:r>
              <a:rPr lang="zh-CN" altLang="en-US" sz="2400" dirty="0"/>
              <a:t>（内在）</a:t>
            </a:r>
            <a:endParaRPr lang="en-US" altLang="zh-CN" sz="2400" dirty="0"/>
          </a:p>
          <a:p>
            <a:pPr lvl="0">
              <a:lnSpc>
                <a:spcPct val="170000"/>
              </a:lnSpc>
            </a:pPr>
            <a:r>
              <a:rPr lang="zh-CN" altLang="en-US" b="1" u="sng" dirty="0" smtClean="0">
                <a:solidFill>
                  <a:srgbClr val="FF0000"/>
                </a:solidFill>
              </a:rPr>
              <a:t>交流沟通的基础，文化修养、认同</a:t>
            </a:r>
            <a:r>
              <a:rPr lang="en-US" altLang="zh-CN" sz="2400" dirty="0"/>
              <a:t>—</a:t>
            </a:r>
            <a:r>
              <a:rPr lang="zh-CN" altLang="en-US" sz="2400" dirty="0"/>
              <a:t>（文言文基础知识、语法工具、古现代历史文化常识、价值观）</a:t>
            </a:r>
            <a:endParaRPr lang="en-US" altLang="zh-CN" sz="2400" dirty="0"/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2800" b="1" dirty="0"/>
              <a:t>∴</a:t>
            </a:r>
            <a:r>
              <a:rPr lang="zh-CN" altLang="zh-CN" sz="2800" b="1" dirty="0"/>
              <a:t>考试分</a:t>
            </a:r>
            <a:r>
              <a:rPr lang="zh-CN" altLang="zh-CN" sz="2800" b="1" u="sng" dirty="0"/>
              <a:t>阅读理解</a:t>
            </a:r>
            <a:r>
              <a:rPr lang="zh-CN" altLang="zh-CN" sz="2800" b="1" dirty="0"/>
              <a:t>与</a:t>
            </a:r>
            <a:r>
              <a:rPr lang="zh-CN" altLang="zh-CN" sz="2800" b="1" u="sng" dirty="0"/>
              <a:t>写作</a:t>
            </a:r>
            <a:r>
              <a:rPr lang="zh-CN" altLang="en-US" sz="2800" b="1" dirty="0"/>
              <a:t>，</a:t>
            </a:r>
            <a:r>
              <a:rPr lang="zh-CN" altLang="zh-CN" sz="2800" b="1" dirty="0"/>
              <a:t>高考</a:t>
            </a:r>
            <a:r>
              <a:rPr lang="en-US" altLang="zh-CN" sz="2800" b="1" dirty="0"/>
              <a:t>150</a:t>
            </a:r>
            <a:r>
              <a:rPr lang="zh-CN" altLang="zh-CN" sz="2800" b="1" dirty="0"/>
              <a:t>分中阅读理解</a:t>
            </a:r>
            <a:r>
              <a:rPr lang="en-US" altLang="zh-CN" sz="2800" b="1" dirty="0"/>
              <a:t>80</a:t>
            </a:r>
            <a:r>
              <a:rPr lang="zh-CN" altLang="zh-CN" sz="2800" b="1" dirty="0"/>
              <a:t>分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写作</a:t>
            </a:r>
            <a:r>
              <a:rPr lang="en-US" altLang="zh-CN" sz="2800" b="1" dirty="0"/>
              <a:t>70</a:t>
            </a:r>
            <a:r>
              <a:rPr lang="zh-CN" altLang="zh-CN" sz="2800" b="1" dirty="0"/>
              <a:t>分</a:t>
            </a:r>
            <a:endParaRPr lang="zh-CN" altLang="zh-CN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5301208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————————————————————————————————————————</a:t>
            </a:r>
            <a:endParaRPr lang="zh-CN" altLang="en-US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356992"/>
            <a:ext cx="9144000" cy="350100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b="1" dirty="0" smtClean="0">
                <a:solidFill>
                  <a:prstClr val="black"/>
                </a:solidFill>
                <a:latin typeface="+mn-ea"/>
              </a:rPr>
              <a:t>作者初写老贝尔曼，就“开相”：</a:t>
            </a:r>
            <a:endParaRPr lang="en-US" altLang="zh-CN" b="1" dirty="0" smtClean="0">
              <a:solidFill>
                <a:prstClr val="black"/>
              </a:solidFill>
              <a:latin typeface="+mn-ea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  <a:latin typeface="+mn-ea"/>
              </a:rPr>
              <a:t>                      </a:t>
            </a:r>
            <a:r>
              <a:rPr lang="zh-CN" altLang="en-US" b="1" u="dbl" dirty="0" smtClean="0">
                <a:solidFill>
                  <a:prstClr val="black"/>
                </a:solidFill>
                <a:latin typeface="+mn-ea"/>
              </a:rPr>
              <a:t>身体</a:t>
            </a:r>
            <a:r>
              <a:rPr lang="zh-CN" altLang="en-US" b="1" dirty="0" smtClean="0">
                <a:solidFill>
                  <a:prstClr val="black"/>
                </a:solidFill>
                <a:latin typeface="+mn-ea"/>
              </a:rPr>
              <a:t>：</a:t>
            </a:r>
            <a:r>
              <a:rPr lang="zh-CN" altLang="en-US" b="1" u="sng" dirty="0" smtClean="0">
                <a:solidFill>
                  <a:prstClr val="black"/>
                </a:solidFill>
                <a:latin typeface="+mn-ea"/>
              </a:rPr>
              <a:t>瘦小猥琐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  <a:latin typeface="+mn-ea"/>
              </a:rPr>
              <a:t>←→ </a:t>
            </a:r>
            <a:r>
              <a:rPr lang="zh-CN" altLang="en-US" b="1" u="dbl" dirty="0" smtClean="0">
                <a:solidFill>
                  <a:prstClr val="black"/>
                </a:solidFill>
                <a:latin typeface="+mn-ea"/>
              </a:rPr>
              <a:t>胡子</a:t>
            </a:r>
            <a:r>
              <a:rPr lang="zh-CN" altLang="en-US" b="1" dirty="0" smtClean="0">
                <a:solidFill>
                  <a:prstClr val="black"/>
                </a:solidFill>
                <a:latin typeface="+mn-ea"/>
              </a:rPr>
              <a:t>：</a:t>
            </a:r>
            <a:r>
              <a:rPr lang="zh-CN" altLang="en-US" b="1" u="sng" dirty="0" smtClean="0">
                <a:solidFill>
                  <a:prstClr val="black"/>
                </a:solidFill>
                <a:latin typeface="+mn-ea"/>
              </a:rPr>
              <a:t>长</a:t>
            </a:r>
            <a:endParaRPr lang="en-US" altLang="zh-CN" b="1" u="sng" dirty="0" smtClean="0">
              <a:solidFill>
                <a:prstClr val="black"/>
              </a:solidFill>
              <a:latin typeface="+mn-ea"/>
            </a:endParaRPr>
          </a:p>
          <a:p>
            <a:pPr marL="0" lvl="0" indent="0">
              <a:lnSpc>
                <a:spcPts val="25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                             </a:t>
            </a:r>
            <a:r>
              <a:rPr lang="en-US" altLang="zh-CN" b="1" dirty="0" smtClean="0">
                <a:solidFill>
                  <a:prstClr val="black"/>
                </a:solidFill>
                <a:latin typeface="+mn-ea"/>
              </a:rPr>
              <a:t>                      ↓</a:t>
            </a:r>
            <a:endParaRPr lang="en-US" altLang="zh-CN" b="1" dirty="0">
              <a:solidFill>
                <a:prstClr val="black"/>
              </a:solidFill>
              <a:latin typeface="+mn-ea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b="1" dirty="0" smtClean="0">
                <a:solidFill>
                  <a:prstClr val="black"/>
                </a:solidFill>
                <a:latin typeface="+mn-ea"/>
              </a:rPr>
              <a:t>                                     两相</a:t>
            </a:r>
            <a:r>
              <a:rPr lang="zh-CN" altLang="en-US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不</a:t>
            </a:r>
            <a:r>
              <a:rPr lang="zh-CN" altLang="en-US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搭、</a:t>
            </a:r>
            <a:r>
              <a:rPr lang="zh-CN" altLang="en-US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不协调</a:t>
            </a:r>
            <a:endParaRPr lang="zh-CN" altLang="en-US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0" lvl="0" indent="0">
              <a:lnSpc>
                <a:spcPts val="25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                              </a:t>
            </a:r>
            <a:r>
              <a:rPr lang="en-US" altLang="zh-CN" b="1" dirty="0" smtClean="0">
                <a:solidFill>
                  <a:prstClr val="black"/>
                </a:solidFill>
                <a:latin typeface="+mn-ea"/>
              </a:rPr>
              <a:t>                     </a:t>
            </a:r>
            <a:r>
              <a:rPr lang="en-US" altLang="zh-CN" b="1" dirty="0">
                <a:solidFill>
                  <a:prstClr val="black"/>
                </a:solidFill>
                <a:latin typeface="+mn-ea"/>
              </a:rPr>
              <a:t>↓</a:t>
            </a:r>
            <a:endParaRPr lang="en-US" altLang="zh-CN" b="1" dirty="0">
              <a:solidFill>
                <a:prstClr val="black"/>
              </a:solidFill>
              <a:latin typeface="+mn-ea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+mn-ea"/>
              </a:rPr>
              <a:t>                                              </a:t>
            </a:r>
            <a:r>
              <a:rPr lang="zh-CN" altLang="en-US" b="1" u="sng" dirty="0" smtClean="0">
                <a:solidFill>
                  <a:prstClr val="black"/>
                </a:solidFill>
                <a:latin typeface="+mn-ea"/>
              </a:rPr>
              <a:t>长相滑稽</a:t>
            </a:r>
            <a:endParaRPr lang="zh-CN" altLang="en-US" b="1" u="sng" dirty="0" smtClean="0">
              <a:solidFill>
                <a:prstClr val="black"/>
              </a:solidFill>
              <a:latin typeface="+mn-ea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b="1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  <a:latin typeface="+mn-ea"/>
              </a:rPr>
              <a:t>                                                   </a:t>
            </a:r>
            <a:r>
              <a:rPr lang="zh-CN" altLang="en-US" b="1" dirty="0" smtClean="0">
                <a:solidFill>
                  <a:prstClr val="black"/>
                </a:solidFill>
                <a:latin typeface="+mn-ea"/>
              </a:rPr>
              <a:t>（</a:t>
            </a:r>
            <a:r>
              <a:rPr lang="zh-CN" altLang="en-US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zh-CN" altLang="en-US" b="1" dirty="0" smtClean="0">
                <a:solidFill>
                  <a:prstClr val="black"/>
                </a:solidFill>
                <a:latin typeface="+mn-ea"/>
              </a:rPr>
              <a:t>凡人英雄  张力）</a:t>
            </a:r>
            <a:endParaRPr lang="zh-CN" altLang="en-US" b="1" dirty="0" smtClean="0">
              <a:solidFill>
                <a:prstClr val="black"/>
              </a:solidFill>
              <a:latin typeface="+mn-ea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+mn-ea"/>
              </a:rPr>
              <a:t>*</a:t>
            </a:r>
            <a:r>
              <a:rPr lang="zh-CN" altLang="en-US" sz="2400" b="1" dirty="0" smtClean="0">
                <a:solidFill>
                  <a:prstClr val="black"/>
                </a:solidFill>
                <a:latin typeface="+mn-ea"/>
              </a:rPr>
              <a:t>反例 绕口令：嗲人戴嗲表，嗲人背嗲包</a:t>
            </a:r>
            <a:r>
              <a:rPr lang="en-US" altLang="zh-CN" sz="2400" b="1" dirty="0" smtClean="0">
                <a:solidFill>
                  <a:prstClr val="black"/>
                </a:solidFill>
                <a:latin typeface="+mn-ea"/>
              </a:rPr>
              <a:t>——</a:t>
            </a:r>
            <a:r>
              <a:rPr lang="zh-CN" altLang="en-US" sz="2400" b="1" dirty="0" smtClean="0">
                <a:solidFill>
                  <a:prstClr val="black"/>
                </a:solidFill>
                <a:latin typeface="+mn-ea"/>
              </a:rPr>
              <a:t>很搭</a:t>
            </a:r>
            <a:r>
              <a:rPr lang="en-US" altLang="zh-CN" sz="2400" b="1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zh-CN" altLang="en-US" sz="2400" b="1" dirty="0" smtClean="0">
                <a:solidFill>
                  <a:prstClr val="black"/>
                </a:solidFill>
                <a:latin typeface="+mn-ea"/>
              </a:rPr>
              <a:t>很</a:t>
            </a:r>
            <a:r>
              <a:rPr lang="en-US" altLang="zh-CN" sz="2400" b="1" dirty="0" smtClean="0">
                <a:solidFill>
                  <a:prstClr val="black"/>
                </a:solidFill>
                <a:latin typeface="+mn-ea"/>
              </a:rPr>
              <a:t>match</a:t>
            </a:r>
            <a:endParaRPr lang="en-US" altLang="zh-CN" sz="2400" b="1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-1" y="1541524"/>
            <a:ext cx="9144001" cy="181546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normAutofit fontScale="97500" lnSpcReduction="10000"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7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   </a:t>
            </a:r>
            <a:r>
              <a:rPr kumimoji="0" lang="zh-CN" alt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“</a:t>
            </a:r>
            <a:r>
              <a:rPr kumimoji="0" lang="en-US" altLang="zh-CN" sz="41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(</a:t>
            </a:r>
            <a:r>
              <a:rPr kumimoji="0" lang="zh-CN" altLang="en-US" sz="41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老贝尔曼</a:t>
            </a:r>
            <a:r>
              <a:rPr kumimoji="0" lang="en-US" altLang="zh-CN" sz="41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)</a:t>
            </a:r>
            <a:r>
              <a:rPr kumimoji="0" lang="zh-CN" alt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有一把像米开朗琪罗的摩西雕像上的</a:t>
            </a:r>
            <a:r>
              <a:rPr kumimoji="0" lang="zh-CN" altLang="en-US" sz="4100" b="1" i="0" u="dbl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胡子</a:t>
            </a:r>
            <a:r>
              <a:rPr kumimoji="0" lang="zh-CN" alt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，从萨蒂尔似的脑袋上顺着</a:t>
            </a:r>
            <a:r>
              <a:rPr kumimoji="0" lang="zh-CN" altLang="en-US" sz="4100" b="1" i="0" u="heavy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小鬼般</a:t>
            </a:r>
            <a:r>
              <a:rPr kumimoji="0" lang="zh-CN" alt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的</a:t>
            </a:r>
            <a:r>
              <a:rPr kumimoji="0" lang="zh-CN" altLang="en-US" sz="4100" b="1" i="0" u="dbl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身体</a:t>
            </a:r>
            <a:r>
              <a:rPr kumimoji="0" lang="zh-CN" altLang="en-US" sz="4100" b="1" i="0" u="heavy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卷垂下来</a:t>
            </a:r>
            <a:r>
              <a:rPr kumimoji="0" lang="zh-CN" alt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”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（</a:t>
            </a: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《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最后的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常春藤叶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》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）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-7620" y="5105"/>
            <a:ext cx="9151620" cy="1536419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“</a:t>
            </a:r>
            <a:r>
              <a:rPr kumimoji="0" lang="zh-CN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语文是一门让人聪明起来的</a:t>
            </a:r>
            <a:r>
              <a:rPr kumimoji="0" lang="zh-CN" altLang="en-US" sz="32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学科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”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培养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聪明的主要途径是</a:t>
            </a:r>
            <a:r>
              <a:rPr kumimoji="0" lang="zh-CN" altLang="en-US" sz="32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文本</a:t>
            </a:r>
            <a:endParaRPr kumimoji="0" lang="en-US" altLang="zh-CN" sz="3200" b="1" i="0" u="sng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                          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——</a:t>
            </a:r>
            <a:r>
              <a:rPr kumimoji="0" lang="zh-CN" altLang="en-US" sz="32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语文课的语文</a:t>
            </a:r>
            <a:r>
              <a:rPr kumimoji="0" lang="zh-CN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味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在</a:t>
            </a:r>
            <a:r>
              <a:rPr kumimoji="0" lang="zh-CN" alt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语言文字</a:t>
            </a:r>
            <a:endParaRPr kumimoji="0" lang="en-US" altLang="zh-CN" sz="3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1536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zh-CN" altLang="en-US" b="1" u="sng" dirty="0">
                <a:latin typeface="宋体" panose="02010600030101010101" pitchFamily="2" charset="-122"/>
                <a:ea typeface="宋体" panose="02010600030101010101" pitchFamily="2" charset="-122"/>
              </a:rPr>
              <a:t>典型问题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正确的废话</a:t>
            </a:r>
            <a:endParaRPr lang="zh-CN" alt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0" y="1556792"/>
            <a:ext cx="9144000" cy="1677242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2667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  一本好书，我们往往先把它买下来，然后抛诸脑后；一首好诗，我们总是先把它收藏起来，然后再难想到细细地咀嚼它、品味它。</a:t>
            </a:r>
            <a:r>
              <a:rPr kumimoji="0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我们似乎占有了很多东西，但是它们却从未真正丰富过我们的心灵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你对这段话有怎样的认识？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006" y="3140968"/>
            <a:ext cx="9144000" cy="3717032"/>
          </a:xfrm>
        </p:spPr>
        <p:txBody>
          <a:bodyPr>
            <a:normAutofit/>
          </a:bodyPr>
          <a:lstStyle/>
          <a:p>
            <a:pPr marL="0" lvl="0" indent="0" defTabSz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000" b="1" dirty="0">
                <a:solidFill>
                  <a:prstClr val="black"/>
                </a:solidFill>
              </a:rPr>
              <a:t>论“</a:t>
            </a:r>
            <a:r>
              <a:rPr lang="zh-CN" altLang="en-US" sz="3000" b="1" u="sng" dirty="0">
                <a:solidFill>
                  <a:prstClr val="black"/>
                </a:solidFill>
              </a:rPr>
              <a:t>为什么要读好</a:t>
            </a:r>
            <a:r>
              <a:rPr lang="zh-CN" altLang="en-US" sz="3000" b="1" u="sng" dirty="0">
                <a:solidFill>
                  <a:prstClr val="black"/>
                </a:solidFill>
                <a:sym typeface="+mn-ea"/>
              </a:rPr>
              <a:t>诗</a:t>
            </a:r>
            <a:r>
              <a:rPr lang="zh-CN" altLang="en-US" sz="3000" b="1" u="sng" dirty="0">
                <a:solidFill>
                  <a:prstClr val="black"/>
                </a:solidFill>
              </a:rPr>
              <a:t>书”</a:t>
            </a:r>
            <a:r>
              <a:rPr lang="en-US" altLang="zh-CN" sz="3000" b="1" u="sng" dirty="0">
                <a:solidFill>
                  <a:prstClr val="black"/>
                </a:solidFill>
              </a:rPr>
              <a:t>=好</a:t>
            </a:r>
            <a:r>
              <a:rPr lang="zh-CN" altLang="en-US" sz="3000" b="1" u="sng" dirty="0">
                <a:solidFill>
                  <a:prstClr val="black"/>
                </a:solidFill>
              </a:rPr>
              <a:t>诗</a:t>
            </a:r>
            <a:r>
              <a:rPr lang="en-US" altLang="zh-CN" sz="3000" b="1" u="sng" dirty="0">
                <a:solidFill>
                  <a:prstClr val="black"/>
                </a:solidFill>
              </a:rPr>
              <a:t>书</a:t>
            </a:r>
            <a:r>
              <a:rPr lang="zh-CN" altLang="en-US" sz="3000" b="1" u="sng" dirty="0">
                <a:solidFill>
                  <a:prstClr val="black"/>
                </a:solidFill>
              </a:rPr>
              <a:t>的功用</a:t>
            </a:r>
            <a:r>
              <a:rPr lang="zh-CN" altLang="en-US" sz="3000" b="1" u="sng" dirty="0" smtClean="0">
                <a:solidFill>
                  <a:prstClr val="black"/>
                </a:solidFill>
              </a:rPr>
              <a:t>价值</a:t>
            </a:r>
            <a:r>
              <a:rPr lang="en-US" altLang="zh-CN" sz="3000" b="1" dirty="0" smtClean="0">
                <a:solidFill>
                  <a:prstClr val="black"/>
                </a:solidFill>
              </a:rPr>
              <a:t>?</a:t>
            </a:r>
            <a:endParaRPr lang="en-US" altLang="zh-CN" sz="3000" b="1" dirty="0">
              <a:solidFill>
                <a:prstClr val="black"/>
              </a:solidFill>
            </a:endParaRPr>
          </a:p>
          <a:p>
            <a:pPr marL="0" lvl="0" indent="0" defTabSz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prstClr val="black"/>
                </a:solidFill>
              </a:rPr>
              <a:t>         </a:t>
            </a:r>
            <a:r>
              <a:rPr lang="zh-CN" altLang="en-US" sz="3000" b="1" dirty="0">
                <a:solidFill>
                  <a:prstClr val="black"/>
                </a:solidFill>
              </a:rPr>
              <a:t>/</a:t>
            </a:r>
            <a:r>
              <a:rPr lang="en-US" altLang="zh-CN" sz="3000" b="1" dirty="0">
                <a:solidFill>
                  <a:prstClr val="black"/>
                </a:solidFill>
              </a:rPr>
              <a:t>  </a:t>
            </a:r>
            <a:r>
              <a:rPr lang="zh-CN" altLang="en-US" sz="3000" b="1" u="sng" dirty="0">
                <a:solidFill>
                  <a:prstClr val="black"/>
                </a:solidFill>
              </a:rPr>
              <a:t>“如何让它们真正丰富心灵</a:t>
            </a:r>
            <a:r>
              <a:rPr lang="zh-CN" altLang="en-US" sz="3000" b="1" dirty="0">
                <a:solidFill>
                  <a:prstClr val="black"/>
                </a:solidFill>
              </a:rPr>
              <a:t>”？</a:t>
            </a:r>
            <a:endParaRPr lang="zh-CN" altLang="en-US" sz="3000" b="1" dirty="0">
              <a:solidFill>
                <a:prstClr val="black"/>
              </a:solidFill>
            </a:endParaRPr>
          </a:p>
          <a:p>
            <a:pPr marL="0" lvl="0" indent="0" defTabSz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200" b="1" dirty="0">
                <a:solidFill>
                  <a:prstClr val="black"/>
                </a:solidFill>
              </a:rPr>
              <a:t>=</a:t>
            </a:r>
            <a:r>
              <a:rPr lang="zh-CN" altLang="en-US" sz="2200" b="1" dirty="0">
                <a:solidFill>
                  <a:prstClr val="black"/>
                </a:solidFill>
              </a:rPr>
              <a:t>1 正确的废话     见上</a:t>
            </a:r>
            <a:r>
              <a:rPr lang="en-US" altLang="zh-CN" sz="2200" b="1" dirty="0">
                <a:solidFill>
                  <a:prstClr val="black"/>
                </a:solidFill>
              </a:rPr>
              <a:t>1 2</a:t>
            </a:r>
            <a:endParaRPr lang="en-US" altLang="zh-CN" sz="2200" b="1" dirty="0">
              <a:solidFill>
                <a:prstClr val="black"/>
              </a:solidFill>
            </a:endParaRPr>
          </a:p>
          <a:p>
            <a:pPr marL="0" lvl="0" indent="0" defTabSz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类似思路：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宝宝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不读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→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妈妈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唠叨：</a:t>
            </a:r>
            <a:r>
              <a:rPr lang="zh-CN" altLang="en-US" sz="2400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要读哦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200" b="1" dirty="0">
              <a:solidFill>
                <a:prstClr val="black"/>
              </a:solidFill>
            </a:endParaRPr>
          </a:p>
          <a:p>
            <a:pPr marL="0" lvl="0" indent="0" defTabSz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200" b="1" dirty="0">
                <a:solidFill>
                  <a:prstClr val="black"/>
                </a:solidFill>
              </a:rPr>
              <a:t>=</a:t>
            </a:r>
            <a:r>
              <a:rPr lang="zh-CN" altLang="en-US" sz="2200" b="1" dirty="0">
                <a:solidFill>
                  <a:prstClr val="black"/>
                </a:solidFill>
              </a:rPr>
              <a:t>2 篡改材料：</a:t>
            </a:r>
            <a:r>
              <a:rPr lang="zh-CN" altLang="en-US" sz="2200" b="1" u="sng" dirty="0">
                <a:solidFill>
                  <a:prstClr val="black"/>
                </a:solidFill>
              </a:rPr>
              <a:t>只是不读好书诗</a:t>
            </a:r>
            <a:r>
              <a:rPr lang="en-US" altLang="zh-CN" sz="2200" b="1" u="sng" dirty="0">
                <a:solidFill>
                  <a:prstClr val="black"/>
                </a:solidFill>
                <a:sym typeface="+mn-ea"/>
              </a:rPr>
              <a:t> </a:t>
            </a:r>
            <a:endParaRPr lang="en-US" altLang="zh-CN" sz="2200" b="1" u="sng" dirty="0">
              <a:solidFill>
                <a:prstClr val="black"/>
              </a:solidFill>
              <a:sym typeface="+mn-ea"/>
            </a:endParaRPr>
          </a:p>
          <a:p>
            <a:pPr marL="0" lvl="0" indent="0" defTabSz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200" b="1" dirty="0">
                <a:solidFill>
                  <a:prstClr val="black"/>
                </a:solidFill>
                <a:sym typeface="+mn-ea"/>
              </a:rPr>
              <a:t>                        </a:t>
            </a:r>
            <a:r>
              <a:rPr lang="en-US" altLang="zh-CN" sz="2200" b="1" dirty="0" smtClean="0">
                <a:solidFill>
                  <a:prstClr val="black"/>
                </a:solidFill>
                <a:sym typeface="+mn-ea"/>
              </a:rPr>
              <a:t>       </a:t>
            </a:r>
            <a:r>
              <a:rPr lang="en-US" altLang="zh-CN" sz="2200" b="1" dirty="0">
                <a:solidFill>
                  <a:prstClr val="black"/>
                </a:solidFill>
              </a:rPr>
              <a:t>(</a:t>
            </a:r>
            <a:r>
              <a:rPr lang="en-US" altLang="zh-CN" sz="2200" b="1" dirty="0" err="1">
                <a:solidFill>
                  <a:prstClr val="black"/>
                </a:solidFill>
              </a:rPr>
              <a:t>删除了</a:t>
            </a:r>
            <a:r>
              <a:rPr lang="en-US" altLang="zh-CN" sz="2200" b="1" dirty="0">
                <a:solidFill>
                  <a:prstClr val="black"/>
                </a:solidFill>
              </a:rPr>
              <a:t> 买 </a:t>
            </a:r>
            <a:r>
              <a:rPr lang="en-US" altLang="zh-CN" sz="2200" b="1" dirty="0" err="1">
                <a:solidFill>
                  <a:prstClr val="black"/>
                </a:solidFill>
              </a:rPr>
              <a:t>收藏</a:t>
            </a:r>
            <a:endParaRPr lang="zh-CN" altLang="en-US" sz="2200" b="1" dirty="0">
              <a:solidFill>
                <a:prstClr val="black"/>
              </a:solidFill>
            </a:endParaRPr>
          </a:p>
          <a:p>
            <a:pPr marL="0" lvl="0" indent="0" defTabSz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prstClr val="black"/>
                </a:solidFill>
              </a:rPr>
              <a:t> </a:t>
            </a:r>
            <a:r>
              <a:rPr lang="en-US" altLang="zh-CN" sz="2200" b="1" dirty="0">
                <a:solidFill>
                  <a:prstClr val="black"/>
                </a:solidFill>
              </a:rPr>
              <a:t>                          </a:t>
            </a:r>
            <a:r>
              <a:rPr lang="en-US" altLang="zh-CN" sz="2200" b="1" dirty="0" smtClean="0">
                <a:solidFill>
                  <a:prstClr val="black"/>
                </a:solidFill>
              </a:rPr>
              <a:t>          </a:t>
            </a:r>
            <a:r>
              <a:rPr lang="en-US" altLang="zh-CN" sz="2200" b="1" dirty="0" err="1">
                <a:solidFill>
                  <a:prstClr val="black"/>
                </a:solidFill>
              </a:rPr>
              <a:t>占有的好书诗，未必是自己买的</a:t>
            </a:r>
            <a:r>
              <a:rPr lang="zh-CN" altLang="en-US" sz="2200" b="1" dirty="0">
                <a:solidFill>
                  <a:prstClr val="black"/>
                </a:solidFill>
              </a:rPr>
              <a:t>收藏的</a:t>
            </a:r>
            <a:endParaRPr lang="zh-CN" altLang="en-US" sz="2200" b="1" dirty="0">
              <a:solidFill>
                <a:prstClr val="black"/>
              </a:solidFill>
            </a:endParaRPr>
          </a:p>
          <a:p>
            <a:pPr marL="0" lvl="0" indent="0" defTabSz="45720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prstClr val="black"/>
                </a:solidFill>
              </a:rPr>
              <a:t> </a:t>
            </a:r>
            <a:r>
              <a:rPr lang="en-US" altLang="zh-CN" sz="2200" b="1" dirty="0">
                <a:solidFill>
                  <a:prstClr val="black"/>
                </a:solidFill>
              </a:rPr>
              <a:t>                                                           </a:t>
            </a:r>
            <a:r>
              <a:rPr lang="en-US" altLang="zh-CN" sz="2200" b="1" dirty="0" smtClean="0">
                <a:solidFill>
                  <a:prstClr val="black"/>
                </a:solidFill>
              </a:rPr>
              <a:t>        </a:t>
            </a:r>
            <a:r>
              <a:rPr lang="zh-CN" altLang="en-US" sz="2200" b="1" dirty="0" smtClean="0">
                <a:solidFill>
                  <a:prstClr val="black"/>
                </a:solidFill>
              </a:rPr>
              <a:t>可能</a:t>
            </a:r>
            <a:r>
              <a:rPr lang="zh-CN" altLang="en-US" sz="2200" b="1" dirty="0">
                <a:solidFill>
                  <a:prstClr val="black"/>
                </a:solidFill>
              </a:rPr>
              <a:t>是继承的</a:t>
            </a:r>
            <a:r>
              <a:rPr lang="en-US" altLang="zh-CN" sz="2200" b="1" dirty="0">
                <a:solidFill>
                  <a:prstClr val="black"/>
                </a:solidFill>
              </a:rPr>
              <a:t>/</a:t>
            </a:r>
            <a:r>
              <a:rPr lang="zh-CN" altLang="en-US" sz="2200" b="1" dirty="0">
                <a:solidFill>
                  <a:prstClr val="black"/>
                </a:solidFill>
              </a:rPr>
              <a:t>做了女婿换来的</a:t>
            </a:r>
            <a:r>
              <a:rPr lang="en-US" altLang="zh-CN" sz="2200" b="1" dirty="0">
                <a:solidFill>
                  <a:prstClr val="black"/>
                </a:solidFill>
              </a:rPr>
              <a:t>)</a:t>
            </a:r>
            <a:endParaRPr lang="en-US" altLang="zh-CN" sz="2200" b="1" dirty="0">
              <a:solidFill>
                <a:prstClr val="black"/>
              </a:solidFill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1113" y="692696"/>
            <a:ext cx="9144000" cy="1054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宝宝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懂用功有好处的道理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，但宝宝就是不想用功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</a:t>
            </a:r>
            <a:b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</a:b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  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妈妈劝宝宝用功，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唠叨用功有好处的道理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1111261"/>
            <a:ext cx="9144000" cy="264734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2667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  一本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好书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，我们往往先把它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买下来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，然后抛诸脑后；一首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好诗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，我们总是先把它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收藏起来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，然后再难想到细细地咀嚼它、品味它。我们似乎占有了很多东西，但是它们却从未真正丰富过我们的心灵。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你对这段话有怎样的认识？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1161"/>
            <a:ext cx="9144000" cy="1088770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我当初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讲评时提的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个大惊小怪之问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21258" y="3955365"/>
            <a:ext cx="9144000" cy="2604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0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“我们”买下收藏下的，</a:t>
            </a:r>
            <a:r>
              <a:rPr lang="zh-CN" altLang="en-US" sz="3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都是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好书诗？</a:t>
            </a:r>
            <a:endParaRPr lang="en-US" altLang="zh-CN" sz="3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想不到读、不想读，那之前</a:t>
            </a:r>
            <a:r>
              <a:rPr lang="zh-CN" altLang="en-US" sz="30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要买和收藏呢</a:t>
            </a:r>
            <a:r>
              <a:rPr lang="zh-CN" altLang="en-US" sz="3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en-US" altLang="zh-CN" sz="3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988841"/>
            <a:ext cx="9144000" cy="48691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现象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：人的行为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事的发生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必有其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事出必有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因</a:t>
            </a:r>
            <a:endParaRPr lang="en-US" altLang="zh-C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(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潜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因</a:t>
            </a:r>
            <a:r>
              <a:rPr lang="en-US" altLang="zh-CN" sz="2400" b="1" baseline="30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(</a:t>
            </a:r>
            <a:r>
              <a:rPr lang="zh-CN" altLang="en-US" sz="24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粗读明价值</a:t>
            </a:r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想读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→→ </a:t>
            </a:r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买 收藏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→→</a:t>
            </a:r>
            <a:r>
              <a:rPr lang="zh-CN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不读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∣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∣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———</a:t>
            </a:r>
            <a:r>
              <a:rPr lang="zh-CN" altLang="en-US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矛盾反常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————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(</a:t>
            </a:r>
            <a:r>
              <a:rPr lang="zh-CN" alt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全局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“是什么”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                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↓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全局之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因</a:t>
            </a:r>
            <a:r>
              <a:rPr lang="en-US" altLang="zh-CN" sz="24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endParaRPr lang="en-US" altLang="zh-CN" sz="2400" b="1" u="sng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(</a:t>
            </a:r>
            <a:r>
              <a:rPr lang="zh-CN" altLang="en-US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有此矛盾反常？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↓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r>
              <a:rPr lang="zh-CN" altLang="en-US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有的放矢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对症施策</a:t>
            </a:r>
            <a:endParaRPr lang="en-US" altLang="zh-CN" sz="2400" b="1" u="sng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1" u="sng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altLang="zh-CN" sz="2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推</a:t>
            </a:r>
            <a:r>
              <a:rPr lang="zh-CN" altLang="en-US" sz="23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潜因</a:t>
            </a:r>
            <a:r>
              <a:rPr lang="en-US" altLang="zh-CN" sz="23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300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看清现象“是什么”的全貌</a:t>
            </a:r>
            <a:r>
              <a:rPr lang="zh-CN" altLang="en-US" sz="2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推</a:t>
            </a:r>
            <a:r>
              <a:rPr lang="zh-CN" altLang="en-US" sz="2300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全局之</a:t>
            </a:r>
            <a:r>
              <a:rPr lang="zh-CN" altLang="en-US" sz="23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因</a:t>
            </a:r>
            <a:r>
              <a:rPr lang="en-US" altLang="zh-CN" sz="2300" baseline="300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lang="en-US" altLang="zh-CN" sz="23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300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对症施策</a:t>
            </a:r>
            <a:endParaRPr lang="en-US" altLang="zh-CN" sz="2300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0" y="1"/>
            <a:ext cx="9144000" cy="550022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要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探查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潜藏的逻辑链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2492896"/>
            <a:ext cx="6679097" cy="378482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61899" y="2924944"/>
            <a:ext cx="2695492" cy="41346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68019" y="2943524"/>
            <a:ext cx="2695492" cy="413468"/>
          </a:xfrm>
          <a:prstGeom prst="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0" y="548680"/>
            <a:ext cx="9144000" cy="144016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266700" algn="l" defTabSz="914400" rtl="0" eaLnBrk="1" fontAlgn="auto" latinLnBrk="0" hangingPunct="1">
              <a:lnSpc>
                <a:spcPts val="2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  </a:t>
            </a:r>
            <a:r>
              <a:rPr kumimoji="0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一本好书，我们往往先把它买下来，然后抛诸脑后；一首好诗，我们总是先把它收藏起来，然后再难想到细细地咀嚼它、品味它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。我们似乎占有了很多东西，但是它们却从未真正丰富过我们的心灵。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你对这段话有怎样的认识？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39481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真正的宝典</a:t>
            </a:r>
            <a:endParaRPr lang="zh-CN" alt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40768"/>
            <a:ext cx="7886700" cy="4836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——</a:t>
            </a:r>
            <a:r>
              <a:rPr lang="zh-CN" altLang="en-US" sz="4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多实践操练</a:t>
            </a:r>
            <a:r>
              <a:rPr lang="en-US" altLang="zh-CN" sz="4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+</a:t>
            </a:r>
            <a:r>
              <a:rPr lang="zh-CN" altLang="en-US" sz="4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反思总结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为什么我老师想得到，你想不到？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没有别人给的宝典，只有</a:t>
            </a:r>
            <a:r>
              <a:rPr lang="zh-CN" alt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自己炼出</a:t>
            </a:r>
            <a:r>
              <a:rPr lang="zh-CN" altLang="en-US" b="1" u="sng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u="sng" dirty="0" smtClean="0">
                <a:latin typeface="宋体" panose="02010600030101010101" pitchFamily="2" charset="-122"/>
                <a:ea typeface="宋体" panose="02010600030101010101" pitchFamily="2" charset="-122"/>
              </a:rPr>
              <a:t>宝典</a:t>
            </a:r>
            <a:endParaRPr lang="en-US" altLang="zh-CN" b="1" u="sng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↑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</a:t>
            </a:r>
            <a:r>
              <a:rPr lang="zh-CN" altLang="en-US" sz="4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意志品质</a:t>
            </a:r>
            <a:endParaRPr lang="en-US" altLang="zh-CN" sz="4000" b="1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/>
          <p:cNvSpPr txBox="1">
            <a:spLocks noChangeArrowheads="1"/>
          </p:cNvSpPr>
          <p:nvPr/>
        </p:nvSpPr>
        <p:spPr bwMode="auto">
          <a:xfrm>
            <a:off x="1" y="2619002"/>
            <a:ext cx="3563888" cy="1323439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white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写作特点</a:t>
            </a:r>
            <a:endParaRPr lang="en-US" altLang="zh-CN" sz="4000" b="1" dirty="0">
              <a:solidFill>
                <a:prstClr val="white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white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（表现技巧）</a:t>
            </a:r>
            <a:endParaRPr lang="zh-CN" altLang="en-US" sz="4000" b="1" dirty="0">
              <a:solidFill>
                <a:prstClr val="whit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3635898" y="1553942"/>
            <a:ext cx="428625" cy="3857625"/>
          </a:xfrm>
          <a:prstGeom prst="leftBrace">
            <a:avLst>
              <a:gd name="adj1" fmla="val 100777"/>
              <a:gd name="adj2" fmla="val 50000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TextBox 3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4139952" y="1164394"/>
            <a:ext cx="5004000" cy="70167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布局谋篇</a:t>
            </a:r>
            <a:r>
              <a:rPr lang="en-US" altLang="zh-CN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结构布局</a:t>
            </a:r>
            <a:endParaRPr lang="zh-CN" altLang="en-US" sz="4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Box 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139953" y="2501679"/>
            <a:ext cx="5004046" cy="70167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表达方式</a:t>
            </a:r>
            <a:endParaRPr lang="zh-CN" altLang="en-US" sz="4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164902" y="3839942"/>
            <a:ext cx="4979096" cy="701675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表现手法</a:t>
            </a:r>
            <a:endParaRPr lang="zh-CN" altLang="en-US" sz="4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139952" y="5023745"/>
            <a:ext cx="5004000" cy="70167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语言运用</a:t>
            </a:r>
            <a:endParaRPr lang="zh-CN" altLang="en-US" sz="4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0" y="-27384"/>
            <a:ext cx="9144000" cy="110799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4400" b="1" dirty="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知识点（树）</a:t>
            </a:r>
            <a:r>
              <a:rPr lang="en-US" altLang="zh-CN" sz="1400" b="1" dirty="0">
                <a:solidFill>
                  <a:srgbClr val="1F497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16P5</a:t>
            </a:r>
            <a:endParaRPr lang="zh-CN" altLang="en-US" sz="1400" b="1" dirty="0">
              <a:solidFill>
                <a:srgbClr val="1F497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2699863" y="5229240"/>
            <a:ext cx="684000" cy="3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771919" y="4123114"/>
            <a:ext cx="432000" cy="3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771871" y="3294970"/>
            <a:ext cx="432000" cy="3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612778" y="6057336"/>
            <a:ext cx="3816000" cy="39600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498" y="3732112"/>
            <a:ext cx="935683" cy="46800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80255" y="2859628"/>
            <a:ext cx="792000" cy="36000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815621" y="1863302"/>
            <a:ext cx="792000" cy="36000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16042" y="732046"/>
            <a:ext cx="792000" cy="36000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16042" y="0"/>
            <a:ext cx="792000" cy="360000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6385" name="TextBox 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07506" y="105594"/>
            <a:ext cx="1295723" cy="353943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布局谋篇</a:t>
            </a:r>
            <a:r>
              <a:rPr lang="en-US" altLang="zh-CN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构思</a:t>
            </a:r>
            <a:r>
              <a:rPr lang="en-US" altLang="zh-CN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endParaRPr lang="zh-CN" altLang="en-US" sz="32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3" name="左大括号 2"/>
          <p:cNvSpPr/>
          <p:nvPr/>
        </p:nvSpPr>
        <p:spPr bwMode="auto">
          <a:xfrm>
            <a:off x="1384695" y="250373"/>
            <a:ext cx="456111" cy="3528033"/>
          </a:xfrm>
          <a:prstGeom prst="leftBrace">
            <a:avLst>
              <a:gd name="adj1" fmla="val 83416"/>
              <a:gd name="adj2" fmla="val 43765"/>
            </a:avLst>
          </a:prstGeom>
          <a:noFill/>
          <a:ln w="7620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761337" y="-99392"/>
            <a:ext cx="7382671" cy="2954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线索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记叙类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如散 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小说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实物  人物  事件  时间  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空间  矛盾冲突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特别小说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情感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特别散文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、明线 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 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暗线、单线 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 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复线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  <a:ea typeface="华文隶书" panose="02010800040101010101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顺序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说 记 散 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时间、空间、事理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逻辑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人类认识的规律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外→内、一般→个别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特殊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主要→次要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简单→复杂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原因↔结果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现象→本质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具体→抽象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分析→综合</a:t>
            </a:r>
            <a:endParaRPr lang="en-US" altLang="zh-CN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结构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sz="1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散</a:t>
            </a:r>
            <a:r>
              <a:rPr lang="en-US" altLang="zh-CN" sz="1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曲折有致</a:t>
            </a: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起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开端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承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承接上文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转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转折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从另外的角度立意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合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归纳结束</a:t>
            </a: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；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议</a:t>
            </a:r>
            <a:r>
              <a:rPr lang="en-US" altLang="zh-CN" sz="1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引论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本论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结论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提出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分析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解决问题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总分式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主体部分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层进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并列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对照式）  </a:t>
            </a:r>
            <a:r>
              <a:rPr lang="zh-CN" altLang="en-US" sz="1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小说</a:t>
            </a:r>
            <a:r>
              <a:rPr lang="en-US" altLang="zh-CN" sz="1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 i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复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引发阅读兴趣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反映生活更充分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人物刻画更丰满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587755" y="2836452"/>
            <a:ext cx="6556255" cy="3203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首尾</a:t>
            </a:r>
            <a:r>
              <a:rPr lang="zh-CN" alt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共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首尾照应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呼应</a:t>
            </a:r>
            <a:endParaRPr lang="en-US" altLang="zh-CN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首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本身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内容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+(</a:t>
            </a:r>
            <a:r>
              <a:rPr lang="zh-CN" altLang="en-US" sz="14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若赏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zh-CN" altLang="en-US" sz="14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本身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形式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效果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总起、点题、明确论题、点中心、交待背景（时地人事环境）、营造氛围、交待写作动机、别开生面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包括</a:t>
            </a:r>
            <a:r>
              <a:rPr lang="zh-CN" altLang="en-US" sz="16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设悬念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引人遐想 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 </a:t>
            </a:r>
            <a:r>
              <a:rPr lang="zh-CN" altLang="en-US" sz="16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构矛盾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吸引读者阅读兴趣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、设伏笔</a:t>
            </a:r>
            <a:endParaRPr lang="en-US" altLang="zh-CN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尾</a:t>
            </a:r>
            <a:r>
              <a:rPr lang="en-US" altLang="zh-CN" sz="2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本身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内容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+(</a:t>
            </a:r>
            <a:r>
              <a:rPr lang="zh-CN" altLang="en-US" sz="14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若赏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zh-CN" altLang="en-US" sz="14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本身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形式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效果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)+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总结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照应前主重内容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全文、</a:t>
            </a:r>
            <a:r>
              <a:rPr lang="zh-CN" altLang="en-US" sz="1600" b="1" strike="dblStrike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1600" b="1" strike="dblStrik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点</a:t>
            </a:r>
            <a:r>
              <a:rPr lang="zh-CN" altLang="en-US" sz="1600" b="1" strike="sngStrike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（照应）题、点中心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含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卒章显志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(“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卒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类有了结尾全文才有意义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含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欧亨利式出人意料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))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、抒情议论升华主旨、开放发散留余味引遐想深思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特别是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写景作结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、呼应开头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特殊结尾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仍是正文部分</a:t>
            </a:r>
            <a:r>
              <a:rPr lang="en-US" altLang="zh-CN" sz="1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14</a:t>
            </a:r>
            <a:r>
              <a:rPr lang="zh-CN" altLang="en-US" sz="1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秋</a:t>
            </a:r>
            <a:r>
              <a:rPr lang="en-US" altLang="zh-CN" sz="1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05</a:t>
            </a:r>
            <a:endParaRPr lang="en-US" altLang="zh-CN" sz="10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标题</a:t>
            </a:r>
            <a:r>
              <a:rPr lang="en-US" altLang="zh-CN" sz="2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本身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内容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+(</a:t>
            </a:r>
            <a:r>
              <a:rPr lang="zh-CN" altLang="en-US" sz="14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若赏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zh-CN" altLang="en-US" sz="14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本身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形式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效果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)+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明确写作对象、内容</a:t>
            </a:r>
            <a:r>
              <a:rPr lang="zh-CN" altLang="en-US" sz="11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说</a:t>
            </a:r>
            <a:r>
              <a:rPr lang="en-US" altLang="zh-CN" sz="11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16P64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如引用诗句添文学性与美感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引发阅读兴趣，线索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说、议无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关联主旨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是文章主旨的基础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点明主旨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…)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 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例题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2017A08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、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16P41</a:t>
            </a:r>
            <a:endParaRPr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55778" y="5971929"/>
            <a:ext cx="6543467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段落</a:t>
            </a:r>
            <a:r>
              <a:rPr lang="en-US" altLang="zh-CN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情节</a:t>
            </a:r>
            <a:r>
              <a:rPr lang="zh-CN" altLang="en-US" sz="1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P72</a:t>
            </a:r>
            <a:r>
              <a:rPr lang="en-US" altLang="zh-CN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材料剪裁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过渡、伏笔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照应、烘托、铺垫、抑扬、先后、</a:t>
            </a:r>
            <a:r>
              <a:rPr lang="zh-CN" altLang="en-US" sz="1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详略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重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主</a:t>
            </a:r>
            <a:r>
              <a:rPr lang="en-US" altLang="zh-CN" sz="1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)/</a:t>
            </a:r>
            <a:r>
              <a:rPr lang="zh-CN" altLang="en-US" sz="1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次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，难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易，点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面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、悬念</a:t>
            </a:r>
            <a:endParaRPr lang="zh-CN" altLang="en-US" sz="1600" b="1" dirty="0">
              <a:solidFill>
                <a:prstClr val="black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8" name="动作按钮: 前进或下一项 7">
            <a:hlinkClick r:id="" action="ppaction://noaction" highlightClick="1"/>
          </p:cNvPr>
          <p:cNvSpPr/>
          <p:nvPr/>
        </p:nvSpPr>
        <p:spPr>
          <a:xfrm>
            <a:off x="8684840" y="2959596"/>
            <a:ext cx="360040" cy="3600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11" y="1332385"/>
            <a:ext cx="7020000" cy="261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r>
              <a:rPr lang="zh-CN" altLang="en-US" sz="1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特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:《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回忆鲁迅先生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》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无逻辑顺序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1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散漫</a:t>
            </a:r>
            <a:r>
              <a:rPr lang="zh-CN" altLang="en-US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串联琐事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11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更接近生活本真状态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r>
              <a:rPr lang="zh-CN" altLang="en-US" sz="11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更具女作家直觉思维特性</a:t>
            </a:r>
            <a:r>
              <a:rPr lang="en-US" altLang="zh-CN" sz="11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16P6</a:t>
            </a:r>
            <a:endParaRPr lang="zh-CN" altLang="en-US" sz="1100" b="1" u="sng" dirty="0">
              <a:solidFill>
                <a:prstClr val="black"/>
              </a:solidFill>
              <a:latin typeface="宋体" panose="02010600030101010101" pitchFamily="2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-3857" y="3694962"/>
            <a:ext cx="2692625" cy="28007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选材</a:t>
            </a:r>
            <a:r>
              <a:rPr lang="zh-CN" altLang="en-US" sz="32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 </a:t>
            </a:r>
            <a:endParaRPr lang="en-US" altLang="zh-CN" sz="3200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典型性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准确、有效展现对象特质  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由点及面 深刻揭示 共性</a:t>
            </a:r>
            <a:endParaRPr lang="en-US" altLang="zh-CN" sz="1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真实性</a:t>
            </a:r>
            <a:endParaRPr lang="en-US" altLang="zh-CN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时代性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反映时代</a:t>
            </a: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的特点，</a:t>
            </a: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的突出</a:t>
            </a: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特有问题</a:t>
            </a:r>
            <a:endParaRPr lang="en-US" altLang="zh-CN" sz="1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人文性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以小见大  思考、蕴含深刻问题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思想</a:t>
            </a:r>
            <a:endParaRPr lang="en-US" altLang="zh-CN" sz="12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*特：非典型性：</a:t>
            </a:r>
            <a:r>
              <a:rPr lang="en-US" altLang="zh-CN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《</a:t>
            </a:r>
            <a:r>
              <a:rPr lang="zh-CN" altLang="en-US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回忆鲁迅先生</a:t>
            </a:r>
            <a:r>
              <a:rPr lang="en-US" altLang="zh-CN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》:</a:t>
            </a:r>
            <a:r>
              <a:rPr lang="zh-CN" altLang="en-US" sz="11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视角转换</a:t>
            </a:r>
            <a:r>
              <a:rPr lang="zh-CN" altLang="en-US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zh-CN" altLang="en-US" sz="11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日常琐事</a:t>
            </a:r>
            <a:r>
              <a:rPr lang="en-US" altLang="zh-CN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展现日常生活之鲁迅，</a:t>
            </a:r>
            <a:r>
              <a:rPr lang="zh-CN" altLang="en-US" sz="11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使对</a:t>
            </a:r>
            <a:r>
              <a:rPr lang="zh-CN" altLang="en-US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鲁</a:t>
            </a:r>
            <a:r>
              <a:rPr lang="zh-CN" altLang="en-US" sz="11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认识更全面客观</a:t>
            </a:r>
            <a:r>
              <a:rPr lang="zh-CN" altLang="en-US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en-US" altLang="zh-CN" sz="1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16P6</a:t>
            </a:r>
            <a:endParaRPr lang="zh-CN" altLang="en-US" sz="1100" b="1" u="sng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188021" y="682536"/>
            <a:ext cx="7092000" cy="141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144483" y="1825534"/>
            <a:ext cx="7092000" cy="141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645223" y="2816135"/>
            <a:ext cx="6624000" cy="141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374564" y="5214481"/>
            <a:ext cx="5940000" cy="141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607621" y="6079149"/>
            <a:ext cx="6696000" cy="141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156847" y="4122413"/>
            <a:ext cx="6192000" cy="141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rot="5400000">
            <a:off x="1277784" y="5128404"/>
            <a:ext cx="270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Box 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-432" y="2420890"/>
            <a:ext cx="900000" cy="255454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表达</a:t>
            </a:r>
            <a:endParaRPr lang="zh-CN" altLang="en-US" sz="40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方式</a:t>
            </a:r>
            <a:endParaRPr lang="zh-CN" altLang="en-US" sz="40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31640" y="-171400"/>
            <a:ext cx="7812360" cy="14157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记叙</a:t>
            </a:r>
            <a:r>
              <a:rPr lang="zh-CN" altLang="en-US" sz="8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叙述方式</a:t>
            </a: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顺叙 倒叙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引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悬念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插叙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张弛有度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补叙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→人物、主旨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</a:t>
            </a:r>
            <a:r>
              <a:rPr lang="zh-CN" altLang="en-US" sz="1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总叙 分叙</a:t>
            </a:r>
            <a:r>
              <a:rPr lang="zh-CN" altLang="en-US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36</a:t>
            </a:r>
            <a:endParaRPr lang="en-US" altLang="zh-CN" sz="1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叙述视角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人称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：限制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第一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亲切自然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全知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第三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客观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给思考空间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第二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缩短作者读者距离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 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特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见 忧伤的力量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000" b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（总详</a:t>
            </a:r>
            <a:r>
              <a:rPr lang="zh-CN" altLang="en-US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见“小说”）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      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时间 地点 人物 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起因 经过 结果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 </a:t>
            </a:r>
            <a:endParaRPr lang="en-US" altLang="zh-CN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   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线索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材料安排剪裁、技巧</a:t>
            </a:r>
            <a:r>
              <a:rPr lang="en-US" altLang="zh-CN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铺垫 悬念 伏笔</a:t>
            </a:r>
            <a:r>
              <a:rPr lang="en-US" altLang="zh-CN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→人物、主旨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331643" y="1045185"/>
            <a:ext cx="1224135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描写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具体形象生动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展现人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景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物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事的特征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情形</a:t>
            </a:r>
            <a:endParaRPr lang="zh-CN" altLang="en-US" sz="16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259633" y="2420888"/>
            <a:ext cx="6300000" cy="212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说明</a:t>
            </a:r>
            <a:r>
              <a:rPr lang="en-US" altLang="zh-CN" sz="2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语言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16P66</a:t>
            </a:r>
            <a:r>
              <a:rPr lang="zh-CN" altLang="en-US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准确严密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科学性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)(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基本共性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a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说明方法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下定义 分类别 列数字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…)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b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修饰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限制语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→程度范围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关联词语运用</a:t>
            </a:r>
            <a:endParaRPr lang="en-US" altLang="zh-CN" sz="1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*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深入浅出平易近人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简明通俗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科普类文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a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说明方法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举例子 作比较 打比方 列图表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…)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b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语言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简明平实浅显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设问 人称代词</a:t>
            </a:r>
            <a:r>
              <a:rPr lang="en-US" altLang="zh-CN" sz="10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16P71</a:t>
            </a:r>
            <a:endParaRPr lang="en-US" altLang="zh-CN" sz="1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3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特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文学色彩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文学性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)(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科学小品文类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a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综合运用多种表达方式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描写、记叙、抒情、议论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b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修辞手法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引用古诗文、拟人、比喻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…)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c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语言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生动活泼有趣味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/&amp;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典雅</a:t>
            </a:r>
            <a:endParaRPr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5496" y="-147593"/>
            <a:ext cx="1152128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抒情</a:t>
            </a:r>
            <a:r>
              <a:rPr lang="zh-CN" altLang="en-US" sz="3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直接、间接</a:t>
            </a:r>
            <a:endParaRPr lang="zh-CN" altLang="en-US" sz="20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331637" y="4410397"/>
            <a:ext cx="3240000" cy="25237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议论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语言</a:t>
            </a:r>
            <a:r>
              <a:rPr lang="en-US" altLang="zh-CN" sz="1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en-US" altLang="zh-CN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准确严密</a:t>
            </a:r>
            <a:r>
              <a:rPr lang="en-US" altLang="zh-CN" sz="1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基本共性</a:t>
            </a:r>
            <a:r>
              <a:rPr lang="en-US" altLang="zh-CN" sz="1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a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修饰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限制语、关联词语的运用，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b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句式的选用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整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散句 长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短句书面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口语 常式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变式句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倒装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)…</a:t>
            </a:r>
            <a:endParaRPr lang="en-US" altLang="zh-CN" sz="12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2</a:t>
            </a:r>
            <a:r>
              <a:rPr lang="zh-CN" altLang="en-US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特色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16P55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a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综合运用多种表达方式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描写 议论 抒情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b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说理时带有强烈感情色彩，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c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用语简练，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d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幽默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讽刺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，旁敲侧击，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e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形象生动深入浅出：如用日常熟悉事物作</a:t>
            </a: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比喻</a:t>
            </a:r>
            <a:endParaRPr lang="zh-CN" altLang="en-US" sz="1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17420" name="Text Box 15"/>
          <p:cNvSpPr txBox="1">
            <a:spLocks noChangeArrowheads="1"/>
          </p:cNvSpPr>
          <p:nvPr/>
        </p:nvSpPr>
        <p:spPr bwMode="auto">
          <a:xfrm>
            <a:off x="3202209" y="1198495"/>
            <a:ext cx="6013376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肖像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眼神</a:t>
            </a:r>
            <a:r>
              <a:rPr lang="zh-CN" altLang="en-US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神韵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神态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衣着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语言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独白</a:t>
            </a:r>
            <a:r>
              <a:rPr lang="zh-CN" altLang="en-US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心理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还或蕴含哲理反映主题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对话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16P50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动作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行为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动作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心理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细节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繁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  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正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侧</a:t>
            </a:r>
            <a:endParaRPr lang="zh-CN" altLang="en-US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左大括号 2"/>
          <p:cNvSpPr/>
          <p:nvPr/>
        </p:nvSpPr>
        <p:spPr bwMode="auto">
          <a:xfrm>
            <a:off x="2267744" y="1328194"/>
            <a:ext cx="288032" cy="552635"/>
          </a:xfrm>
          <a:prstGeom prst="leftBrace">
            <a:avLst>
              <a:gd name="adj1" fmla="val 0"/>
              <a:gd name="adj2" fmla="val 5769"/>
            </a:avLst>
          </a:prstGeom>
          <a:noFill/>
          <a:ln w="3810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22" name="Text Box 18"/>
          <p:cNvSpPr txBox="1">
            <a:spLocks noChangeArrowheads="1"/>
          </p:cNvSpPr>
          <p:nvPr/>
        </p:nvSpPr>
        <p:spPr bwMode="auto">
          <a:xfrm>
            <a:off x="2411760" y="1164049"/>
            <a:ext cx="9334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人物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3" name="Text Box 19"/>
          <p:cNvSpPr txBox="1">
            <a:spLocks noChangeArrowheads="1"/>
          </p:cNvSpPr>
          <p:nvPr/>
        </p:nvSpPr>
        <p:spPr bwMode="auto">
          <a:xfrm>
            <a:off x="2483768" y="1693257"/>
            <a:ext cx="6768752" cy="8925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环境</a:t>
            </a:r>
            <a:r>
              <a:rPr lang="en-US" altLang="zh-CN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景物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自然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典型</a:t>
            </a:r>
            <a:r>
              <a:rPr lang="zh-CN" altLang="en-US" sz="2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社会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):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本身特征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交代</a:t>
            </a: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时间地点等背景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典型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揭示</a:t>
            </a:r>
            <a:r>
              <a:rPr lang="zh-CN" altLang="en-US" sz="1400" b="1" u="sng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特定时代</a:t>
            </a: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社会背景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、渲染</a:t>
            </a: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气氛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、奠定</a:t>
            </a: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基调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、侧面烘托</a:t>
            </a: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人物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心理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形象、推动</a:t>
            </a: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情节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上下文关系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)/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串连全文作线索、助揭示</a:t>
            </a: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主题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1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参荷花淀、琵琶行</a:t>
            </a:r>
            <a:endParaRPr lang="zh-CN" altLang="en-US" sz="10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左大括号 2"/>
          <p:cNvSpPr/>
          <p:nvPr/>
        </p:nvSpPr>
        <p:spPr bwMode="auto">
          <a:xfrm>
            <a:off x="3131840" y="1268808"/>
            <a:ext cx="144000" cy="432000"/>
          </a:xfrm>
          <a:prstGeom prst="leftBrace">
            <a:avLst>
              <a:gd name="adj1" fmla="val 50578"/>
              <a:gd name="adj2" fmla="val 27538"/>
            </a:avLst>
          </a:prstGeom>
          <a:noFill/>
          <a:ln w="3810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26" name="Text Box 22"/>
          <p:cNvSpPr txBox="1">
            <a:spLocks noChangeArrowheads="1"/>
          </p:cNvSpPr>
          <p:nvPr/>
        </p:nvSpPr>
        <p:spPr bwMode="auto">
          <a:xfrm>
            <a:off x="4355975" y="5085184"/>
            <a:ext cx="2700000" cy="477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ts val="15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角度：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立论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驳论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破立结合 先破后立破中有立 多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8" name="Text Box 24"/>
          <p:cNvSpPr txBox="1">
            <a:spLocks noChangeArrowheads="1"/>
          </p:cNvSpPr>
          <p:nvPr/>
        </p:nvSpPr>
        <p:spPr bwMode="auto">
          <a:xfrm>
            <a:off x="7020512" y="5013176"/>
            <a:ext cx="2160000" cy="16825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分文体作用：</a:t>
            </a:r>
            <a:endParaRPr lang="en-US" altLang="zh-CN" sz="1400" b="1" u="sng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2000"/>
              </a:lnSpc>
              <a:spcAft>
                <a:spcPct val="0"/>
              </a:spcAft>
              <a:buFontTx/>
              <a:buChar char="•"/>
              <a:defRPr/>
            </a:pP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记叙文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描写记叙的基础上，升华思想，画龙点睛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2000"/>
              </a:lnSpc>
              <a:spcAft>
                <a:spcPct val="0"/>
              </a:spcAft>
              <a:buFontTx/>
              <a:buChar char="•"/>
              <a:defRPr/>
            </a:pP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说明文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开头以引起说明；末尾升华思想，画龙点睛</a:t>
            </a:r>
            <a:endParaRPr lang="zh-CN" altLang="en-US" sz="1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2000"/>
              </a:lnSpc>
              <a:spcAft>
                <a:spcPct val="0"/>
              </a:spcAft>
              <a:buFontTx/>
              <a:buChar char="•"/>
              <a:defRPr/>
            </a:pPr>
            <a:r>
              <a:rPr lang="zh-CN" altLang="en-US" sz="1400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议论文</a:t>
            </a:r>
            <a:endParaRPr lang="zh-CN" altLang="en-US" sz="1400" b="1" u="sng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9" name="Text Box 25"/>
          <p:cNvSpPr txBox="1">
            <a:spLocks noChangeArrowheads="1"/>
          </p:cNvSpPr>
          <p:nvPr/>
        </p:nvSpPr>
        <p:spPr bwMode="auto">
          <a:xfrm>
            <a:off x="4320512" y="4549973"/>
            <a:ext cx="4860000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ts val="1800"/>
              </a:lnSpc>
              <a:spcAft>
                <a:spcPct val="0"/>
              </a:spcAft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论证方法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举例论证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比喻论证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引用论证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对比论证</a:t>
            </a:r>
            <a:endParaRPr lang="en-US" altLang="zh-CN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1800"/>
              </a:lnSpc>
              <a:spcAft>
                <a:spcPct val="0"/>
              </a:spcAft>
              <a:defRPr/>
            </a:pP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黄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52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12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因果论证、归纳法、演绎法、归谬法、反证法</a:t>
            </a:r>
            <a:endParaRPr lang="zh-CN" altLang="en-US" sz="12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30" name="Text Box 26"/>
          <p:cNvSpPr txBox="1">
            <a:spLocks noChangeArrowheads="1"/>
          </p:cNvSpPr>
          <p:nvPr/>
        </p:nvSpPr>
        <p:spPr bwMode="auto">
          <a:xfrm>
            <a:off x="7452320" y="2643296"/>
            <a:ext cx="1764000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  <a:buFontTx/>
              <a:buChar char="•"/>
              <a:defRPr/>
            </a:pP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说明对象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中心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特征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事理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顺序</a:t>
            </a:r>
            <a:endParaRPr lang="zh-CN" altLang="en-US" sz="16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Aft>
                <a:spcPct val="0"/>
              </a:spcAft>
              <a:buFontTx/>
              <a:buChar char="•"/>
              <a:defRPr/>
            </a:pP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说明方法</a:t>
            </a:r>
            <a:r>
              <a:rPr lang="zh-CN" altLang="en-US" sz="1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黄</a:t>
            </a:r>
            <a:r>
              <a:rPr lang="en-US" altLang="zh-CN" sz="1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44,16P65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下定义 列数字 分类别 作比较 举例子 打比方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作类比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列图表</a:t>
            </a:r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2159732" y="1043444"/>
            <a:ext cx="7956884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—————————————————————————————————</a:t>
            </a:r>
            <a:endParaRPr lang="en-US" altLang="zh-CN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2195738" y="2420888"/>
            <a:ext cx="7307287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——————————————————————————————</a:t>
            </a:r>
            <a:endParaRPr lang="en-US" altLang="zh-CN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1331642" y="4283804"/>
            <a:ext cx="7811937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—————————————————————————————————</a:t>
            </a:r>
            <a:endParaRPr lang="en-US" altLang="zh-CN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22"/>
          <p:cNvSpPr txBox="1">
            <a:spLocks noChangeArrowheads="1"/>
          </p:cNvSpPr>
          <p:nvPr/>
        </p:nvSpPr>
        <p:spPr bwMode="auto">
          <a:xfrm>
            <a:off x="4410983" y="5589240"/>
            <a:ext cx="2628000" cy="11233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ts val="15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论据：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理论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事实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16P53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15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中心论点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&lt;&lt;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写作意图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16P53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15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动作按钮: 前进或下一项 32">
            <a:hlinkClick r:id="" action="ppaction://noaction" highlightClick="1"/>
          </p:cNvPr>
          <p:cNvSpPr/>
          <p:nvPr/>
        </p:nvSpPr>
        <p:spPr>
          <a:xfrm>
            <a:off x="8856476" y="2348880"/>
            <a:ext cx="180020" cy="18466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433556" y="2636914"/>
            <a:ext cx="18764" cy="1876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418602" y="4620212"/>
            <a:ext cx="9382" cy="20951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1259632" y="5557882"/>
            <a:ext cx="0" cy="12554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-36512" y="4918811"/>
            <a:ext cx="1080070" cy="12464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散文效果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16P5</a:t>
            </a:r>
            <a:endParaRPr lang="en-US" altLang="zh-CN" sz="12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运用自如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灵活多变</a:t>
            </a:r>
            <a:endParaRPr lang="zh-CN" altLang="en-US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791964" y="1844824"/>
            <a:ext cx="396000" cy="5364000"/>
          </a:xfrm>
          <a:prstGeom prst="leftBrace">
            <a:avLst>
              <a:gd name="adj1" fmla="val 98509"/>
              <a:gd name="adj2" fmla="val 37041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755627" y="1484786"/>
            <a:ext cx="504007" cy="51911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单</a:t>
            </a:r>
            <a:endParaRPr lang="zh-CN" altLang="en-US" sz="28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左大括号 2"/>
          <p:cNvSpPr/>
          <p:nvPr/>
        </p:nvSpPr>
        <p:spPr bwMode="auto">
          <a:xfrm>
            <a:off x="1187623" y="260648"/>
            <a:ext cx="180000" cy="5225226"/>
          </a:xfrm>
          <a:prstGeom prst="leftBrace">
            <a:avLst>
              <a:gd name="adj1" fmla="val 89219"/>
              <a:gd name="adj2" fmla="val 29224"/>
            </a:avLst>
          </a:prstGeom>
          <a:noFill/>
          <a:ln w="5715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499992" y="5013176"/>
            <a:ext cx="46440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020272" y="5103973"/>
            <a:ext cx="0" cy="17638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07950" y="544612"/>
            <a:ext cx="719634" cy="230832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表达</a:t>
            </a:r>
            <a:endParaRPr lang="zh-CN" altLang="en-US" sz="3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方式</a:t>
            </a:r>
            <a:endParaRPr lang="zh-CN" altLang="en-US" sz="3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1187922" y="44626"/>
            <a:ext cx="503238" cy="51911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单</a:t>
            </a:r>
            <a:endParaRPr lang="zh-CN" altLang="en-US" sz="28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1187626" y="2066927"/>
            <a:ext cx="504825" cy="519113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互</a:t>
            </a:r>
            <a:endParaRPr lang="zh-CN" altLang="en-US" sz="28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Text Box 22"/>
          <p:cNvSpPr txBox="1">
            <a:spLocks noChangeArrowheads="1"/>
          </p:cNvSpPr>
          <p:nvPr/>
        </p:nvSpPr>
        <p:spPr bwMode="auto">
          <a:xfrm>
            <a:off x="1907704" y="1773238"/>
            <a:ext cx="7236296" cy="30469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重表达方式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叙议结合、描叙抒结合等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en-US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重构思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——ⅰ.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借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物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喻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理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、即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因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事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史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论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悟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理</a:t>
            </a:r>
            <a:endParaRPr lang="zh-CN" altLang="en-US" sz="24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ⅱ.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托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物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言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志</a:t>
            </a:r>
            <a:endParaRPr lang="zh-CN" altLang="en-US" sz="24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借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即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事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古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史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抒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怀</a:t>
            </a:r>
            <a:endParaRPr lang="en-US" altLang="zh-CN" sz="2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借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景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抒</a:t>
            </a: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情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                          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情景交融</a:t>
            </a:r>
            <a:endParaRPr lang="en-US" altLang="zh-CN" sz="2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Text Box 23"/>
          <p:cNvSpPr txBox="1">
            <a:spLocks noChangeArrowheads="1"/>
          </p:cNvSpPr>
          <p:nvPr/>
        </p:nvSpPr>
        <p:spPr bwMode="auto">
          <a:xfrm>
            <a:off x="5581228" y="4293098"/>
            <a:ext cx="1943100" cy="109260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即景抒情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直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zh-CN" altLang="en-US" sz="20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缘情写景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间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1800"/>
              </a:lnSpc>
              <a:spcBef>
                <a:spcPct val="5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融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寓情于景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间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zh-CN" altLang="en-US" sz="20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5437212" y="5509683"/>
            <a:ext cx="3671292" cy="1015663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直接抒情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间接抒情：关键看文本字面上的是否出现了抒情这一表达方式</a:t>
            </a:r>
            <a:endParaRPr lang="zh-CN" altLang="en-US" sz="20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左大括号 2"/>
          <p:cNvSpPr/>
          <p:nvPr/>
        </p:nvSpPr>
        <p:spPr bwMode="auto">
          <a:xfrm>
            <a:off x="755576" y="260648"/>
            <a:ext cx="432000" cy="2160000"/>
          </a:xfrm>
          <a:prstGeom prst="leftBrace">
            <a:avLst>
              <a:gd name="adj1" fmla="val 37690"/>
              <a:gd name="adj2" fmla="val 63523"/>
            </a:avLst>
          </a:prstGeom>
          <a:noFill/>
          <a:ln w="6350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左大括号 2"/>
          <p:cNvSpPr/>
          <p:nvPr/>
        </p:nvSpPr>
        <p:spPr bwMode="auto">
          <a:xfrm>
            <a:off x="1691680" y="1995490"/>
            <a:ext cx="216000" cy="936625"/>
          </a:xfrm>
          <a:prstGeom prst="leftBrace">
            <a:avLst>
              <a:gd name="adj1" fmla="val 38548"/>
              <a:gd name="adj2" fmla="val 41532"/>
            </a:avLst>
          </a:prstGeom>
          <a:noFill/>
          <a:ln w="3810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左大括号 2"/>
          <p:cNvSpPr/>
          <p:nvPr/>
        </p:nvSpPr>
        <p:spPr bwMode="auto">
          <a:xfrm>
            <a:off x="5292082" y="4354487"/>
            <a:ext cx="288379" cy="936104"/>
          </a:xfrm>
          <a:prstGeom prst="leftBrace">
            <a:avLst>
              <a:gd name="adj1" fmla="val 3585"/>
              <a:gd name="adj2" fmla="val 29457"/>
            </a:avLst>
          </a:prstGeom>
          <a:noFill/>
          <a:ln w="3810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043435" y="44626"/>
            <a:ext cx="936278" cy="95410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作品总体</a:t>
            </a:r>
            <a:r>
              <a:rPr lang="zh-CN" alt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endParaRPr lang="zh-CN" altLang="en-US" sz="28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71601" y="1170618"/>
            <a:ext cx="1080120" cy="1754326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具体</a:t>
            </a:r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endParaRPr lang="en-US" altLang="zh-CN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也可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用于作品总体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若作品主要采用此手法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endParaRPr lang="en-US" altLang="zh-CN" sz="16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0" y="3501008"/>
            <a:ext cx="1908000" cy="175432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   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角度</a:t>
            </a:r>
            <a:r>
              <a:rPr lang="zh-CN" altLang="en-US" sz="2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：</a:t>
            </a:r>
            <a:endParaRPr lang="en-US" altLang="zh-CN" sz="28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可单用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如白描；也可作为其它手法的内容，如以动衬静、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动静结合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、</a:t>
            </a:r>
            <a:r>
              <a:rPr lang="zh-CN" altLang="en-US" sz="16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虚实结合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相生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黄</a:t>
            </a: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19,61</a:t>
            </a:r>
            <a:endParaRPr lang="en-US" altLang="zh-CN" sz="12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2123378" y="34316"/>
            <a:ext cx="7020000" cy="946413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ts val="15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ⅰ.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借物喻理、即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因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事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史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论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悟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理</a:t>
            </a:r>
            <a:endParaRPr lang="zh-CN" altLang="en-US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15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ⅱ.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托物言志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比喻  拟人  象征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endParaRPr lang="en-US" altLang="zh-CN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15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借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即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事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古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史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抒怀、借景抒情（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情景交融、情景相生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3" name="TextBox 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5496" y="1052738"/>
            <a:ext cx="720478" cy="2800767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表现手法</a:t>
            </a:r>
            <a:endParaRPr lang="zh-CN" altLang="en-US" sz="44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19463" name="Text Box 10"/>
          <p:cNvSpPr txBox="1">
            <a:spLocks noChangeArrowheads="1"/>
          </p:cNvSpPr>
          <p:nvPr/>
        </p:nvSpPr>
        <p:spPr bwMode="auto">
          <a:xfrm>
            <a:off x="2215190" y="958078"/>
            <a:ext cx="6948000" cy="20867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铺垫、渲染、烘托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衬托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映衬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正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反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互相</a:t>
            </a:r>
            <a:r>
              <a:rPr lang="en-US" altLang="zh-CN" sz="11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16P2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zh-CN" altLang="en-US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对比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对照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16P84   3 +(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题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、类比 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b="1" u="sng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比喻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    </a:t>
            </a:r>
            <a:r>
              <a:rPr lang="zh-CN" alt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比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兴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寄托</a:t>
            </a:r>
            <a:endParaRPr lang="zh-CN" altLang="en-US" b="1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借代   互文   用典   化用诗句</a:t>
            </a:r>
            <a:endParaRPr lang="zh-CN" altLang="en-US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象征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  </a:t>
            </a:r>
            <a:r>
              <a:rPr lang="zh-CN" altLang="en-US" b="1" u="sng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想象、联想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</a:t>
            </a:r>
            <a:endParaRPr lang="en-US" altLang="zh-CN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以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见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、欲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先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、化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手段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目的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     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AB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结合</a:t>
            </a:r>
            <a:endParaRPr lang="en-US" altLang="zh-CN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意象叠加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组合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名词组合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16P84(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典型意象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如夕阳 丁香 杨柳 长亭 大雁等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左大括号 2"/>
          <p:cNvSpPr/>
          <p:nvPr/>
        </p:nvSpPr>
        <p:spPr bwMode="auto">
          <a:xfrm>
            <a:off x="1979712" y="1194133"/>
            <a:ext cx="216000" cy="1612056"/>
          </a:xfrm>
          <a:prstGeom prst="leftBrace">
            <a:avLst>
              <a:gd name="adj1" fmla="val 33597"/>
              <a:gd name="adj2" fmla="val 14930"/>
            </a:avLst>
          </a:prstGeom>
          <a:noFill/>
          <a:ln w="5715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 b="1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465" name="Text Box 12"/>
          <p:cNvSpPr txBox="1">
            <a:spLocks noChangeArrowheads="1"/>
          </p:cNvSpPr>
          <p:nvPr/>
        </p:nvSpPr>
        <p:spPr bwMode="auto">
          <a:xfrm>
            <a:off x="1979712" y="3068962"/>
            <a:ext cx="7164000" cy="255454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视角：仰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俯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平视、近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远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全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、上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下</a:t>
            </a:r>
            <a:endParaRPr lang="zh-CN" altLang="en-US" sz="20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范围：形状、声音、色彩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色调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包括明暗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、时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空、视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触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听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嗅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味觉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综合叠加雨巷例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16P34)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endParaRPr lang="zh-CN" altLang="en-US" sz="1200" b="1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用笔：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正</a:t>
            </a:r>
            <a:r>
              <a:rPr lang="en-US" altLang="zh-CN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侧面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黄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19 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实</a:t>
            </a:r>
            <a:r>
              <a:rPr lang="en-US" altLang="zh-CN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虚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景 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、繁笔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工笔</a:t>
            </a:r>
            <a:r>
              <a: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细致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简笔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白描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、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动</a:t>
            </a:r>
            <a:r>
              <a:rPr lang="en-US" altLang="zh-CN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静</a:t>
            </a:r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以动</a:t>
            </a:r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(/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声</a:t>
            </a:r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衬静</a:t>
            </a: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16P2</a:t>
            </a:r>
            <a:r>
              <a:rPr lang="zh-CN" altLang="en-US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以静衬动  动静相映</a:t>
            </a:r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黄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19 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、点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面、小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大、抑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扬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先扬后抑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先抑后扬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明扬实抑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抑中有扬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、直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曲、从对面落笔、含蓄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(: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曲笔 象征 隐喻 暗示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16P82  《</a:t>
            </a:r>
            <a:r>
              <a:rPr lang="zh-CN" altLang="en-US" sz="1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病</a:t>
            </a:r>
            <a:r>
              <a:rPr lang="en-US" altLang="zh-CN" sz="1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》</a:t>
            </a:r>
            <a:r>
              <a:rPr lang="zh-CN" altLang="en-US" sz="1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文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、人称、留白</a:t>
            </a:r>
            <a:endParaRPr lang="zh-CN" altLang="en-US" sz="20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情感：乐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哀</a:t>
            </a:r>
            <a:endParaRPr lang="en-US" altLang="zh-CN" sz="20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左大括号 2"/>
          <p:cNvSpPr/>
          <p:nvPr/>
        </p:nvSpPr>
        <p:spPr bwMode="auto">
          <a:xfrm>
            <a:off x="1835698" y="3284984"/>
            <a:ext cx="216199" cy="2025516"/>
          </a:xfrm>
          <a:prstGeom prst="leftBrace">
            <a:avLst>
              <a:gd name="adj1" fmla="val 43063"/>
              <a:gd name="adj2" fmla="val 25529"/>
            </a:avLst>
          </a:prstGeom>
          <a:noFill/>
          <a:ln w="5715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2051722" y="755412"/>
            <a:ext cx="6408737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———————————————————————————</a:t>
            </a:r>
            <a:endParaRPr lang="en-US" altLang="zh-CN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2051720" y="2846265"/>
            <a:ext cx="67691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————————————————————————————</a:t>
            </a:r>
            <a:endParaRPr lang="en-US" altLang="zh-CN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2" name="曲线连接符 11"/>
          <p:cNvCxnSpPr/>
          <p:nvPr/>
        </p:nvCxnSpPr>
        <p:spPr>
          <a:xfrm rot="10800000" flipV="1">
            <a:off x="4860038" y="1484786"/>
            <a:ext cx="1584173" cy="2"/>
          </a:xfrm>
          <a:prstGeom prst="curvedConnector3">
            <a:avLst>
              <a:gd name="adj1" fmla="val 50000"/>
            </a:avLst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曲线连接符 26"/>
          <p:cNvCxnSpPr/>
          <p:nvPr/>
        </p:nvCxnSpPr>
        <p:spPr>
          <a:xfrm rot="10800000">
            <a:off x="6732244" y="1124745"/>
            <a:ext cx="270031" cy="181332"/>
          </a:xfrm>
          <a:prstGeom prst="curvedConnector3">
            <a:avLst>
              <a:gd name="adj1" fmla="val -51588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曲线连接符 48"/>
          <p:cNvCxnSpPr/>
          <p:nvPr/>
        </p:nvCxnSpPr>
        <p:spPr>
          <a:xfrm rot="16200000" flipV="1">
            <a:off x="3739177" y="2884206"/>
            <a:ext cx="1953683" cy="576064"/>
          </a:xfrm>
          <a:prstGeom prst="curvedConnector3">
            <a:avLst>
              <a:gd name="adj1" fmla="val 99924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755576" y="5613049"/>
            <a:ext cx="3312368" cy="1200329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散文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借景抒情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融情于景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托物言志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借物喻理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象征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烘托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对比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抑扬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动静结合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虚实相生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想象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联想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渲染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16P4,P5,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19,61 </a:t>
            </a:r>
            <a:endParaRPr lang="zh-CN" altLang="en-US" sz="1600" b="1" dirty="0">
              <a:solidFill>
                <a:prstClr val="black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561432" y="2420888"/>
            <a:ext cx="619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黄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18</a:t>
            </a:r>
            <a:endParaRPr lang="zh-CN" altLang="en-US" sz="16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左大括号 2"/>
          <p:cNvSpPr/>
          <p:nvPr/>
        </p:nvSpPr>
        <p:spPr bwMode="auto">
          <a:xfrm>
            <a:off x="827584" y="611396"/>
            <a:ext cx="216024" cy="3168000"/>
          </a:xfrm>
          <a:prstGeom prst="leftBrace">
            <a:avLst>
              <a:gd name="adj1" fmla="val 75845"/>
              <a:gd name="adj2" fmla="val 48948"/>
            </a:avLst>
          </a:prstGeom>
          <a:noFill/>
          <a:ln w="7620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4499992" y="5445226"/>
            <a:ext cx="4248000" cy="1374735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古诗文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:1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常见修辞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双关 借代 用典 互文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借景抒情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托物言志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虚实相生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象征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烘托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对比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比兴寄托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以小见大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借古讽今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卒章显志 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典型意象 意象叠加      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16P78,79,80  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17 19,61 </a:t>
            </a:r>
            <a:endParaRPr lang="zh-CN" altLang="en-US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683568" y="5742548"/>
            <a:ext cx="8568000" cy="10708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763688" y="4293176"/>
            <a:ext cx="7397382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63688" y="105024"/>
            <a:ext cx="7380312" cy="34574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65160" y="2564904"/>
            <a:ext cx="720000" cy="3240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65160" y="1107050"/>
            <a:ext cx="720000" cy="36608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75856" y="105024"/>
            <a:ext cx="1296000" cy="324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63688" y="771040"/>
            <a:ext cx="1368000" cy="34205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63688" y="429024"/>
            <a:ext cx="1260000" cy="34201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740432" y="764704"/>
            <a:ext cx="720000" cy="3600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763688" y="2265264"/>
            <a:ext cx="7560000" cy="28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27904" y="33016"/>
            <a:ext cx="1584000" cy="396000"/>
          </a:xfrm>
          <a:prstGeom prst="rect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3568" y="177032"/>
            <a:ext cx="863638" cy="1296104"/>
          </a:xfrm>
          <a:prstGeom prst="rect">
            <a:avLst/>
          </a:prstGeom>
          <a:solidFill>
            <a:srgbClr val="FFC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727904" y="4293096"/>
            <a:ext cx="1548000" cy="396000"/>
          </a:xfrm>
          <a:prstGeom prst="rect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左大括号 2"/>
          <p:cNvSpPr/>
          <p:nvPr/>
        </p:nvSpPr>
        <p:spPr bwMode="auto">
          <a:xfrm>
            <a:off x="1547664" y="249040"/>
            <a:ext cx="216594" cy="4728176"/>
          </a:xfrm>
          <a:prstGeom prst="leftBrace">
            <a:avLst>
              <a:gd name="adj1" fmla="val 49433"/>
              <a:gd name="adj2" fmla="val 17208"/>
            </a:avLst>
          </a:prstGeom>
          <a:noFill/>
          <a:ln w="76200" algn="ctr">
            <a:solidFill>
              <a:schemeClr val="accent1"/>
            </a:solidFill>
            <a:round/>
          </a:ln>
        </p:spPr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43608" y="5073576"/>
            <a:ext cx="8117462" cy="6596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11560" y="177034"/>
            <a:ext cx="1080008" cy="35855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局部</a:t>
            </a:r>
            <a:r>
              <a:rPr lang="en-US" altLang="zh-CN" sz="2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技巧</a:t>
            </a:r>
            <a:endParaRPr lang="en-US" altLang="zh-CN" sz="28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ts val="3000"/>
              </a:lnSpc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表达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形象化、个性化、生动地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展现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突出强调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x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人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景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物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事的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特征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情形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→ 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情感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观点</a:t>
            </a:r>
            <a:endParaRPr lang="zh-CN" altLang="en-US" sz="16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3608" y="4977216"/>
            <a:ext cx="1548000" cy="396000"/>
          </a:xfrm>
          <a:prstGeom prst="rect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1408" y="5733304"/>
            <a:ext cx="2232000" cy="432000"/>
          </a:xfrm>
          <a:prstGeom prst="rect">
            <a:avLst/>
          </a:prstGeom>
          <a:solidFill>
            <a:srgbClr val="FFC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457" name="TextBox 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-36512" y="1002606"/>
            <a:ext cx="738664" cy="414297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</a:ln>
        </p:spPr>
        <p:txBody>
          <a:bodyPr vert="eaVert"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语言运用 </a:t>
            </a:r>
            <a:r>
              <a:rPr lang="en-US" altLang="zh-CN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语言特色</a:t>
            </a:r>
            <a:r>
              <a:rPr lang="en-US" altLang="zh-CN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endParaRPr lang="en-US" altLang="zh-CN" sz="32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763688" y="1473216"/>
            <a:ext cx="7560000" cy="28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995936" y="5507940"/>
            <a:ext cx="4912886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———————————————————</a:t>
            </a:r>
            <a:endParaRPr lang="en-US" altLang="zh-CN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动作按钮: 前进或下一项 9">
            <a:hlinkClick r:id="" action="ppaction://noaction" highlightClick="1"/>
          </p:cNvPr>
          <p:cNvSpPr/>
          <p:nvPr/>
        </p:nvSpPr>
        <p:spPr>
          <a:xfrm>
            <a:off x="35496" y="6153696"/>
            <a:ext cx="432048" cy="3600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395536" y="933096"/>
            <a:ext cx="305872" cy="5004576"/>
          </a:xfrm>
          <a:prstGeom prst="leftBrace">
            <a:avLst>
              <a:gd name="adj1" fmla="val 102268"/>
              <a:gd name="adj2" fmla="val 41952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71600" y="4912712"/>
            <a:ext cx="8172400" cy="86177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修辞手法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86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12+2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种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对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对偶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对比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比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比喻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通感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比拟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反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反复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反语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问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设问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反问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排比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夸张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引用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借代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双关 互文</a:t>
            </a:r>
            <a:r>
              <a:rPr lang="en-US" altLang="zh-CN" sz="10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16P33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沈红旗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《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汉语文化导航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》</a:t>
            </a: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11560" y="5748942"/>
            <a:ext cx="8549510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总体</a:t>
            </a:r>
            <a:r>
              <a:rPr lang="en-US" altLang="zh-CN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语言风格</a:t>
            </a:r>
            <a:r>
              <a:rPr lang="zh-CN" altLang="en-US" sz="2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散文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59,16P5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形象 生动 简洁 </a:t>
            </a:r>
            <a:r>
              <a:rPr lang="zh-CN" altLang="en-US" sz="16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平实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sz="16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明快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绚丽 </a:t>
            </a:r>
            <a:r>
              <a:rPr lang="zh-CN" altLang="en-US" sz="16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含蓄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凝练 </a:t>
            </a:r>
            <a:r>
              <a:rPr lang="zh-CN" altLang="en-US" sz="16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质朴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严肃 </a:t>
            </a:r>
            <a:r>
              <a:rPr lang="zh-CN" altLang="en-US" sz="16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幽默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sz="16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典雅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16P11  </a:t>
            </a:r>
            <a:r>
              <a:rPr lang="zh-CN" altLang="en-US" sz="2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小说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16P23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及小说部分 </a:t>
            </a:r>
            <a:r>
              <a:rPr lang="zh-CN" altLang="en-US" sz="2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说明文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朴实准确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+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生动典雅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平易近人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16P69 71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</a:t>
            </a:r>
            <a:r>
              <a:rPr lang="zh-CN" altLang="en-US" sz="2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古诗文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16P81</a:t>
            </a:r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20: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典雅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华丽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—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平实、明快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—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含蓄、刚健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—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柔婉、庄重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—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诙谐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活泼</a:t>
            </a:r>
            <a:endParaRPr lang="zh-CN" altLang="en-US" sz="16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91680" y="-27384"/>
            <a:ext cx="7452320" cy="36009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遣词造句</a:t>
            </a: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音韵节奏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叠词</a:t>
            </a:r>
            <a:r>
              <a:rPr lang="zh-CN" altLang="en-US" sz="8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双声叠韵</a:t>
            </a:r>
            <a:r>
              <a:rPr lang="en-US" altLang="zh-CN" sz="1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16P39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重章叠句</a:t>
            </a:r>
            <a:r>
              <a:rPr lang="zh-CN" altLang="en-US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渲染氛围突出主题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反复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…</a:t>
            </a:r>
            <a:endParaRPr lang="en-US" altLang="zh-CN" sz="16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感情色彩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浓郁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褒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贬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褒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贬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词贬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褒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用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叹词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具体类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如幽默 庄重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endParaRPr lang="en-US" altLang="zh-CN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色彩</a:t>
            </a: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色调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单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多种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冷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灰暗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暖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明丽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16P2 36 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共营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对比 </a:t>
            </a: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用典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20</a:t>
            </a:r>
            <a:endParaRPr lang="en-US" altLang="zh-CN" sz="14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炼字</a:t>
            </a: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词语搭配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爱护爱戴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语意轻重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轻视蔑视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范围程度大小</a:t>
            </a:r>
            <a:endParaRPr lang="en-US" altLang="zh-CN" sz="20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动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形容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副词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精妙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运用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凝练形象生动贴切</a:t>
            </a:r>
            <a:r>
              <a:rPr lang="en-US" altLang="zh-CN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富表现力概括力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文学文本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(*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仍应尽可能包含具体的</a:t>
            </a: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点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包括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修辞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、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表现手法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等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),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如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遥看瀑布</a:t>
            </a: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挂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前川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 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化动为静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“</a:t>
            </a:r>
            <a:r>
              <a:rPr lang="zh-CN" altLang="en-US" sz="1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砌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成此恨无重数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” 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化“虚”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(: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抽象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为“实”（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形象）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 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例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16P13 48</a:t>
            </a:r>
            <a:endParaRPr lang="en-US" altLang="zh-CN" sz="1600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修饰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限制语的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准确</a:t>
            </a:r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运用</a:t>
            </a:r>
            <a:r>
              <a:rPr lang="en-US" altLang="zh-CN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准确严密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社科文本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句式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53,16P23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: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整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骈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排比 对偶</a:t>
            </a:r>
            <a:r>
              <a:rPr lang="en-US" altLang="zh-CN" sz="160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en-US" altLang="zh-CN" sz="2000" b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散句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19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53  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长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短句 </a:t>
            </a:r>
            <a:r>
              <a:rPr lang="zh-CN" altLang="en-US" sz="20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文言</a:t>
            </a:r>
            <a:r>
              <a:rPr lang="en-US" altLang="zh-CN" sz="20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0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白话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</a:t>
            </a:r>
            <a:r>
              <a:rPr lang="zh-CN" altLang="en-US" sz="20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书面</a:t>
            </a:r>
            <a:r>
              <a:rPr lang="en-US" altLang="zh-CN" sz="20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0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口语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 </a:t>
            </a:r>
            <a:r>
              <a:rPr lang="zh-CN" altLang="en-US" sz="20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方言</a:t>
            </a:r>
            <a:r>
              <a:rPr lang="en-US" altLang="zh-CN" sz="1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16P11</a:t>
            </a:r>
            <a:r>
              <a:rPr lang="zh-CN" altLang="en-US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常式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变式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倒装</a:t>
            </a:r>
            <a:r>
              <a:rPr lang="en-US" altLang="zh-CN" sz="16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句 语气句式、因文概述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如四字句等</a:t>
            </a:r>
            <a:r>
              <a:rPr lang="en-US" altLang="zh-CN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)</a:t>
            </a:r>
            <a:endParaRPr lang="en-US" altLang="zh-CN" sz="1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-4186" y="507357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黄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60</a:t>
            </a:r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00498" y="3645024"/>
            <a:ext cx="7360572" cy="5656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6" name="直角上箭头 15"/>
          <p:cNvSpPr/>
          <p:nvPr/>
        </p:nvSpPr>
        <p:spPr>
          <a:xfrm flipH="1">
            <a:off x="3707904" y="3212976"/>
            <a:ext cx="3204000" cy="442506"/>
          </a:xfrm>
          <a:prstGeom prst="bentUpArrow">
            <a:avLst>
              <a:gd name="adj1" fmla="val 25000"/>
              <a:gd name="adj2" fmla="val 25000"/>
              <a:gd name="adj3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19672" y="4149080"/>
            <a:ext cx="752432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表达方式</a:t>
            </a:r>
            <a:r>
              <a:rPr lang="zh-CN" altLang="en-US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 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记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、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描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、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说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、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抒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、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议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，及其具体内容（如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人称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人</a:t>
            </a:r>
            <a:r>
              <a:rPr lang="en-US" altLang="zh-CN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景</a:t>
            </a:r>
            <a:r>
              <a:rPr lang="en-US" altLang="zh-CN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/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环境描写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,</a:t>
            </a:r>
            <a:r>
              <a:rPr lang="zh-CN" altLang="en-US" sz="2000" b="1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议论的分文体的作用</a:t>
            </a:r>
            <a:r>
              <a:rPr lang="en-US" altLang="zh-CN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…</a:t>
            </a:r>
            <a:r>
              <a:rPr lang="zh-CN" altLang="en-US" sz="20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）</a:t>
            </a:r>
            <a:endParaRPr lang="zh-CN" altLang="en-US" sz="20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600024" y="4005064"/>
            <a:ext cx="1188000" cy="34201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6876256" y="3249024"/>
            <a:ext cx="1728000" cy="477054"/>
          </a:xfrm>
          <a:prstGeom prst="rect">
            <a:avLst/>
          </a:prstGeom>
          <a:solidFill>
            <a:srgbClr val="92D050"/>
          </a:solidFill>
          <a:ln w="317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语体色彩</a:t>
            </a:r>
            <a:endParaRPr lang="zh-CN" altLang="en-US" sz="30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华文隶书" panose="02010800040101010101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763688" y="3645024"/>
            <a:ext cx="720000" cy="3240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91680" y="3615990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sz="2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词汇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文言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雅致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白话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现代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、书面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口语、方言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表特定地域内容准确明白，有韵味</a:t>
            </a:r>
            <a:r>
              <a:rPr lang="en-US" altLang="zh-CN" sz="14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16P11</a:t>
            </a:r>
            <a:endParaRPr lang="zh-CN" altLang="en-US" sz="1400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35896" y="3981248"/>
            <a:ext cx="3456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华文隶书" panose="02010800040101010101" charset="-122"/>
              </a:rPr>
              <a:t>-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标点符号：例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16P18</a:t>
            </a:r>
            <a:r>
              <a: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49</a:t>
            </a:r>
            <a:endParaRPr lang="en-US" altLang="zh-CN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576064"/>
          </a:xfr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论证方法   </a:t>
            </a:r>
            <a:r>
              <a:rPr lang="zh-CN" altLang="en-US" sz="3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作用 效果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黄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51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52</a:t>
            </a:r>
            <a:endParaRPr lang="zh-CN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35498" y="661246"/>
          <a:ext cx="9036495" cy="5906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2"/>
                <a:gridCol w="7668343"/>
              </a:tblGrid>
              <a:tr h="667734">
                <a:tc>
                  <a:txBody>
                    <a:bodyPr/>
                    <a:lstStyle/>
                    <a:p>
                      <a:pPr algn="r"/>
                      <a:r>
                        <a:rPr lang="zh-CN" altLang="en-US" sz="3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总</a:t>
                      </a:r>
                      <a:endParaRPr lang="zh-CN" altLang="en-US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</a:rPr>
                        <a:t>增强说服力，更好</a:t>
                      </a:r>
                      <a:r>
                        <a:rPr lang="en-US" altLang="zh-CN" sz="28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</a:rPr>
                        <a:t>更有效地论证观点</a:t>
                      </a:r>
                      <a:endParaRPr lang="en-US" altLang="zh-CN" sz="2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734">
                <a:tc>
                  <a:txBody>
                    <a:bodyPr/>
                    <a:lstStyle/>
                    <a:p>
                      <a:pPr algn="r"/>
                      <a:r>
                        <a:rPr lang="zh-CN" altLang="en-US" sz="3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举例论证</a:t>
                      </a:r>
                      <a:endParaRPr lang="zh-CN" altLang="en-US" sz="32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</a:rPr>
                        <a:t>以</a:t>
                      </a:r>
                      <a:r>
                        <a:rPr lang="zh-CN" altLang="en-US" sz="2800" b="1" i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真实准确的典型事例</a:t>
                      </a: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</a:rPr>
                        <a:t>证明观点</a:t>
                      </a:r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</a:rPr>
                        <a:t>，形象具体，容易引起关注</a:t>
                      </a:r>
                      <a:endParaRPr lang="zh-CN" alt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523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3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对比论证</a:t>
                      </a:r>
                      <a:endParaRPr lang="zh-CN" altLang="en-US" sz="32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</a:rPr>
                        <a:t>横向比较</a:t>
                      </a:r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</a:rPr>
                        <a:t>纵向比较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</a:rPr>
                        <a:t>16P55</a:t>
                      </a:r>
                      <a:r>
                        <a:rPr lang="zh-CN" altLang="en-US" sz="2800" b="1" dirty="0" smtClean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</a:rPr>
                        <a:t>使论证充分、严密，强调突出观点，揭示本质</a:t>
                      </a:r>
                      <a:endParaRPr lang="zh-CN" alt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391">
                <a:tc>
                  <a:txBody>
                    <a:bodyPr/>
                    <a:lstStyle/>
                    <a:p>
                      <a:pPr algn="r"/>
                      <a:r>
                        <a:rPr lang="zh-CN" altLang="en-US" sz="3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引用论证</a:t>
                      </a:r>
                      <a:endParaRPr lang="zh-CN" altLang="en-US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引入论题 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 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直接作为论点 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 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作为论据证明论点  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言简意赅，加强真实性，增强说服力 </a:t>
                      </a:r>
                      <a:endParaRPr lang="en-US" altLang="zh-CN" sz="2800" b="1" dirty="0" smtClean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r>
                        <a:rPr lang="en-US" altLang="zh-CN" sz="2800" b="1" dirty="0" smtClean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丰富文章内涵</a:t>
                      </a:r>
                      <a:endParaRPr lang="zh-CN" alt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391">
                <a:tc>
                  <a:txBody>
                    <a:bodyPr/>
                    <a:lstStyle/>
                    <a:p>
                      <a:pPr algn="r"/>
                      <a:r>
                        <a:rPr lang="zh-CN" altLang="en-US" sz="3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比喻论证</a:t>
                      </a:r>
                      <a:endParaRPr lang="zh-CN" altLang="en-US" sz="32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u="sng" dirty="0" smtClean="0">
                          <a:solidFill>
                            <a:srgbClr val="FF0000"/>
                          </a:solidFill>
                        </a:rPr>
                        <a:t>形象</a:t>
                      </a:r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</a:rPr>
                        <a:t>具体生动，深入浅出，耐人寻味  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例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16P57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734">
                <a:tc>
                  <a:txBody>
                    <a:bodyPr/>
                    <a:lstStyle/>
                    <a:p>
                      <a:pPr algn="r"/>
                      <a:endParaRPr lang="zh-CN" altLang="en-US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634082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zh-CN" altLang="en-US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说明</a:t>
            </a:r>
            <a:r>
              <a:rPr lang="zh-CN" altLang="en-US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方法  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作用效果</a:t>
            </a:r>
            <a:r>
              <a:rPr lang="zh-CN" altLang="en-US" sz="1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黄</a:t>
            </a:r>
            <a:r>
              <a:rPr lang="en-US" altLang="zh-CN" sz="10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44,16P65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-108520" y="548680"/>
          <a:ext cx="9252520" cy="5696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5988"/>
                <a:gridCol w="7646532"/>
              </a:tblGrid>
              <a:tr h="576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下定义</a:t>
                      </a:r>
                      <a:endParaRPr lang="zh-CN" altLang="en-US" sz="28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: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简洁准确清晰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揭示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对象的</a:t>
                      </a:r>
                      <a:r>
                        <a:rPr kumimoji="0" lang="zh-CN" altLang="en-US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本质</a:t>
                      </a:r>
                      <a:endParaRPr kumimoji="0" lang="en-US" altLang="zh-CN" sz="2800" b="1" i="0" u="sng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401187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列数字</a:t>
                      </a:r>
                      <a:endParaRPr lang="zh-CN" altLang="en-US" sz="28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: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科学精确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说明特征</a:t>
                      </a:r>
                      <a:endParaRPr kumimoji="0" lang="en-US" altLang="zh-CN" sz="2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514342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分类别</a:t>
                      </a:r>
                      <a:endParaRPr lang="zh-CN" altLang="en-US" sz="28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: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清楚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揭示</a:t>
                      </a:r>
                      <a:r>
                        <a:rPr kumimoji="0" lang="zh-CN" altLang="en-US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复杂对象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的</a:t>
                      </a:r>
                      <a:r>
                        <a:rPr kumimoji="0" lang="zh-CN" altLang="en-US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各方面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特征</a:t>
                      </a:r>
                      <a:endParaRPr kumimoji="0" lang="en-US" altLang="zh-CN" sz="2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339465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作比较</a:t>
                      </a:r>
                      <a:endParaRPr lang="zh-CN" altLang="en-US" sz="28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: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凸显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对象特征</a:t>
                      </a: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endParaRPr kumimoji="0" lang="en-US" altLang="zh-CN" sz="2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750941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举例子</a:t>
                      </a:r>
                      <a:endParaRPr lang="zh-CN" altLang="en-US" sz="28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: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通过列举</a:t>
                      </a:r>
                      <a:r>
                        <a:rPr kumimoji="0" lang="zh-CN" altLang="en-US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典型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的例子，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形象具体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说明事物的</a:t>
                      </a:r>
                      <a:r>
                        <a:rPr kumimoji="0" lang="zh-CN" altLang="en-US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一般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特征</a:t>
                      </a: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r>
                        <a:rPr kumimoji="0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(15</a:t>
                      </a:r>
                      <a:r>
                        <a:rPr kumimoji="0" lang="zh-CN" altLang="en-US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析评</a:t>
                      </a:r>
                      <a:r>
                        <a:rPr kumimoji="0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27)</a:t>
                      </a:r>
                      <a:endParaRPr kumimoji="0" lang="en-US" altLang="zh-CN" sz="2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750941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打比方</a:t>
                      </a: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(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作类比</a:t>
                      </a: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  <a:endParaRPr lang="zh-CN" altLang="en-US" sz="28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: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具体生动形象直观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说明</a:t>
                      </a:r>
                      <a:r>
                        <a:rPr kumimoji="0" lang="zh-CN" altLang="en-US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复杂</a:t>
                      </a:r>
                      <a:r>
                        <a:rPr kumimoji="0" lang="en-US" altLang="zh-CN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/</a:t>
                      </a:r>
                      <a:r>
                        <a:rPr kumimoji="0" lang="zh-CN" altLang="en-US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抽象对象</a:t>
                      </a:r>
                      <a:r>
                        <a:rPr kumimoji="0" lang="en-US" altLang="zh-CN" sz="2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，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化抽象为具体，化生僻为通俗，</a:t>
                      </a:r>
                      <a:r>
                        <a:rPr kumimoji="0" lang="zh-CN" altLang="en-US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帮助深入理解</a:t>
                      </a:r>
                      <a:r>
                        <a:rPr kumimoji="0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(</a:t>
                      </a:r>
                      <a:r>
                        <a:rPr kumimoji="0" lang="zh-CN" altLang="en-US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黄</a:t>
                      </a:r>
                      <a:r>
                        <a:rPr kumimoji="0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86)</a:t>
                      </a:r>
                      <a:r>
                        <a:rPr kumimoji="0" lang="zh-CN" altLang="en-US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清晰明白</a:t>
                      </a: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,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平易近人</a:t>
                      </a:r>
                      <a:r>
                        <a:rPr kumimoji="0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(15</a:t>
                      </a:r>
                      <a:r>
                        <a:rPr kumimoji="0" lang="zh-CN" altLang="en-US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析评</a:t>
                      </a:r>
                      <a:r>
                        <a:rPr kumimoji="0" lang="en-US" altLang="zh-CN" sz="20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17 24 27)</a:t>
                      </a:r>
                      <a:r>
                        <a:rPr kumimoji="0" lang="zh-CN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（作类比：</a:t>
                      </a:r>
                      <a:r>
                        <a:rPr kumimoji="0" lang="zh-CN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例</a:t>
                      </a:r>
                      <a:r>
                        <a:rPr kumimoji="0" lang="en-US" altLang="zh-CN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16P70 2</a:t>
                      </a:r>
                      <a:r>
                        <a:rPr kumimoji="0" lang="zh-CN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题  </a:t>
                      </a:r>
                      <a:r>
                        <a:rPr kumimoji="0" lang="en-US" altLang="zh-CN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73 4</a:t>
                      </a:r>
                      <a:r>
                        <a:rPr kumimoji="0" lang="zh-CN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题</a:t>
                      </a:r>
                      <a:r>
                        <a:rPr kumimoji="0" lang="zh-CN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）</a:t>
                      </a: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/>
                </a:tc>
              </a:tr>
              <a:tr h="750941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列图表</a:t>
                      </a:r>
                      <a:endParaRPr lang="zh-CN" altLang="en-US" sz="28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: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用插图、表格、照片，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具体直观快速简要</a:t>
                      </a:r>
                      <a:r>
                        <a:rPr kumimoji="0" lang="zh-CN" altLang="en-US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表现特点  </a:t>
                      </a:r>
                      <a:r>
                        <a:rPr kumimoji="0" lang="en-US" altLang="zh-CN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16P65</a:t>
                      </a:r>
                      <a:endParaRPr kumimoji="0" lang="zh-CN" altLang="en-US" sz="2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6512" y="-27384"/>
            <a:ext cx="9144000" cy="432048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修辞</a:t>
            </a:r>
            <a:r>
              <a:rPr lang="zh-CN" altLang="en-US" dirty="0" smtClean="0"/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效果</a:t>
            </a:r>
            <a:r>
              <a:rPr lang="zh-CN" altLang="en-US" dirty="0" smtClean="0"/>
              <a:t> </a:t>
            </a:r>
            <a:r>
              <a:rPr lang="zh-CN" altLang="en-US" sz="1600" dirty="0"/>
              <a:t>黄</a:t>
            </a:r>
            <a:r>
              <a:rPr lang="en-US" altLang="zh-CN" sz="1600" dirty="0"/>
              <a:t>86        </a:t>
            </a:r>
            <a:r>
              <a:rPr lang="zh-CN" altLang="en-US" sz="1600" dirty="0"/>
              <a:t>试用本</a:t>
            </a:r>
            <a:r>
              <a:rPr lang="en-US" altLang="zh-CN" sz="1600" dirty="0"/>
              <a:t>5</a:t>
            </a:r>
            <a:r>
              <a:rPr lang="zh-CN" altLang="en-US" sz="1600" dirty="0"/>
              <a:t>册附录      *双关、顶真、回环     只需了解</a:t>
            </a:r>
            <a:endParaRPr lang="zh-CN" altLang="en-US" sz="1600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0" y="404667"/>
          <a:ext cx="9107488" cy="64998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842"/>
                <a:gridCol w="8426646"/>
              </a:tblGrid>
              <a:tr h="317608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比喻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明喻</a:t>
                      </a:r>
                      <a:r>
                        <a:rPr lang="zh-CN" altLang="en-US" sz="1400" b="1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暗喻</a:t>
                      </a:r>
                      <a:r>
                        <a:rPr lang="en-US" altLang="zh-CN" sz="1000" b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000" b="1" dirty="0" smtClean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en-US" altLang="zh-CN" sz="1000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000" b="1" dirty="0" smtClean="0">
                          <a:solidFill>
                            <a:schemeClr val="tx1"/>
                          </a:solidFill>
                        </a:rPr>
                        <a:t>成为</a:t>
                      </a:r>
                      <a:r>
                        <a:rPr lang="en-US" altLang="zh-CN" sz="1000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000" b="1" dirty="0" smtClean="0">
                          <a:solidFill>
                            <a:schemeClr val="tx1"/>
                          </a:solidFill>
                        </a:rPr>
                        <a:t>等于</a:t>
                      </a:r>
                      <a:r>
                        <a:rPr lang="en-US" altLang="zh-CN" sz="1000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zh-CN" sz="1000" b="1" baseline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zh-CN" altLang="en-US" sz="1000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借喻</a:t>
                      </a:r>
                      <a:r>
                        <a:rPr lang="zh-CN" altLang="en-US" sz="1050" b="1" dirty="0" smtClean="0">
                          <a:solidFill>
                            <a:schemeClr val="tx1"/>
                          </a:solidFill>
                        </a:rPr>
                        <a:t>（本体不出现） 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通感</a:t>
                      </a:r>
                      <a:r>
                        <a:rPr lang="en-US" altLang="zh-CN" sz="1400" b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移觉</a:t>
                      </a:r>
                      <a:r>
                        <a:rPr lang="en-US" altLang="zh-CN" sz="1400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生动具体形象，使印象鲜明深刻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比拟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、使无生命事物活跃，使抽象事物具体化。生动形象，有感染力</a:t>
                      </a:r>
                      <a:r>
                        <a:rPr lang="zh-CN" altLang="en-US" b="1" baseline="0" dirty="0" smtClean="0">
                          <a:solidFill>
                            <a:srgbClr val="FF0000"/>
                          </a:solidFill>
                        </a:rPr>
                        <a:t>                </a:t>
                      </a:r>
                      <a:endParaRPr lang="en-US" altLang="zh-CN" b="1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baseline="0" dirty="0" smtClean="0">
                          <a:solidFill>
                            <a:srgbClr val="FF0000"/>
                          </a:solidFill>
                        </a:rPr>
                        <a:t>、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启发读者想象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借代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、突出事物特征，生动具体形象</a:t>
                      </a:r>
                      <a:r>
                        <a:rPr lang="en-US" altLang="zh-CN" b="1" baseline="0" dirty="0" smtClean="0">
                          <a:solidFill>
                            <a:srgbClr val="FF0000"/>
                          </a:solidFill>
                        </a:rPr>
                        <a:t>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、语言简洁精练含蓄</a:t>
                      </a:r>
                      <a:r>
                        <a:rPr lang="zh-CN" altLang="en-US" b="1" baseline="0" dirty="0" smtClean="0">
                          <a:solidFill>
                            <a:srgbClr val="FF0000"/>
                          </a:solidFill>
                        </a:rPr>
                        <a:t>             </a:t>
                      </a:r>
                      <a:endParaRPr lang="en-US" altLang="zh-CN" b="1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baseline="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b="1" baseline="0" dirty="0" smtClean="0">
                          <a:solidFill>
                            <a:srgbClr val="FF0000"/>
                          </a:solidFill>
                        </a:rPr>
                        <a:t>、语言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富有变化和幽默感</a:t>
                      </a:r>
                      <a:r>
                        <a:rPr lang="en-US" altLang="zh-CN" b="1" baseline="0" dirty="0" smtClean="0">
                          <a:solidFill>
                            <a:srgbClr val="FF0000"/>
                          </a:solidFill>
                        </a:rPr>
                        <a:t>                     4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、引发联想           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16P78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608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夸张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、提示事物本质</a:t>
                      </a:r>
                      <a:r>
                        <a:rPr lang="zh-CN" altLang="en-US" b="1" baseline="0" dirty="0" smtClean="0">
                          <a:solidFill>
                            <a:srgbClr val="FF0000"/>
                          </a:solidFill>
                        </a:rPr>
                        <a:t>           </a:t>
                      </a:r>
                      <a:r>
                        <a:rPr lang="en-US" altLang="zh-CN" b="1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baseline="0" dirty="0" smtClean="0">
                          <a:solidFill>
                            <a:srgbClr val="FF0000"/>
                          </a:solidFill>
                        </a:rPr>
                        <a:t>、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烘托气氛，加强渲染力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、引起联想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对偶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400" b="1" dirty="0" smtClean="0"/>
                        <a:t>字数相等，结构相同</a:t>
                      </a:r>
                      <a:r>
                        <a:rPr lang="en-US" altLang="zh-CN" sz="1400" b="1" dirty="0" smtClean="0"/>
                        <a:t>/</a:t>
                      </a:r>
                      <a:r>
                        <a:rPr lang="zh-CN" altLang="en-US" sz="1400" b="1" dirty="0" smtClean="0"/>
                        <a:t>相近的一对短语</a:t>
                      </a:r>
                      <a:r>
                        <a:rPr lang="en-US" altLang="zh-CN" sz="1400" b="1" dirty="0" smtClean="0"/>
                        <a:t>/</a:t>
                      </a:r>
                      <a:r>
                        <a:rPr lang="zh-CN" altLang="en-US" sz="1400" b="1" dirty="0" smtClean="0"/>
                        <a:t>句子     正对    反对      串对</a:t>
                      </a:r>
                      <a:r>
                        <a:rPr lang="en-US" altLang="zh-CN" sz="1400" b="1" dirty="0" smtClean="0"/>
                        <a:t>(:</a:t>
                      </a:r>
                      <a:r>
                        <a:rPr lang="zh-CN" altLang="en-US" sz="1400" b="1" dirty="0" smtClean="0"/>
                        <a:t>内容连贯</a:t>
                      </a:r>
                      <a:r>
                        <a:rPr lang="en-US" altLang="zh-CN" sz="1400" b="1" dirty="0" smtClean="0"/>
                        <a:t>/</a:t>
                      </a:r>
                      <a:r>
                        <a:rPr lang="zh-CN" altLang="en-US" sz="1400" b="1" dirty="0" smtClean="0"/>
                        <a:t>有递进、因果</a:t>
                      </a:r>
                      <a:r>
                        <a:rPr lang="en-US" altLang="zh-CN" sz="1400" b="1" dirty="0" smtClean="0"/>
                        <a:t>)</a:t>
                      </a:r>
                      <a:endParaRPr lang="en-US" altLang="zh-CN" sz="1400" b="1" dirty="0" smtClean="0"/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、高度概括，易于记忆   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、整齐匀称，节奏感强，有音乐美感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排比</a:t>
                      </a:r>
                      <a:endParaRPr lang="en-US" altLang="zh-CN" sz="18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≥</a:t>
                      </a:r>
                      <a:r>
                        <a:rPr lang="en-US" altLang="zh-CN" sz="1400" b="1" dirty="0" smtClean="0"/>
                        <a:t>3</a:t>
                      </a:r>
                      <a:r>
                        <a:rPr lang="zh-CN" altLang="en-US" sz="1400" b="1" dirty="0" smtClean="0"/>
                        <a:t>个结构</a:t>
                      </a:r>
                      <a:r>
                        <a:rPr lang="en-US" altLang="zh-CN" sz="1400" b="1" dirty="0" smtClean="0"/>
                        <a:t>&amp;</a:t>
                      </a:r>
                      <a:r>
                        <a:rPr lang="zh-CN" altLang="en-US" sz="1400" b="1" dirty="0" smtClean="0"/>
                        <a:t>长度类似、语气一致的词组</a:t>
                      </a:r>
                      <a:r>
                        <a:rPr lang="en-US" altLang="zh-CN" sz="1400" b="1" dirty="0" smtClean="0"/>
                        <a:t>/</a:t>
                      </a:r>
                      <a:r>
                        <a:rPr lang="zh-CN" altLang="en-US" sz="1400" b="1" dirty="0" smtClean="0"/>
                        <a:t>句子      句子成分</a:t>
                      </a:r>
                      <a:r>
                        <a:rPr lang="en-US" altLang="zh-CN" sz="1400" b="1" dirty="0" smtClean="0"/>
                        <a:t>/</a:t>
                      </a:r>
                      <a:r>
                        <a:rPr lang="zh-CN" altLang="en-US" sz="1400" b="1" dirty="0" smtClean="0"/>
                        <a:t>句子</a:t>
                      </a:r>
                      <a:r>
                        <a:rPr lang="en-US" altLang="zh-CN" sz="1400" b="1" dirty="0" smtClean="0"/>
                        <a:t>/</a:t>
                      </a:r>
                      <a:r>
                        <a:rPr lang="zh-CN" altLang="en-US" sz="1400" b="1" dirty="0" smtClean="0"/>
                        <a:t>段落     </a:t>
                      </a: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、加强节奏感  </a:t>
                      </a:r>
                      <a:endParaRPr lang="en-US" altLang="zh-CN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        2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、增强条理性 </a:t>
                      </a:r>
                      <a:r>
                        <a:rPr lang="en-US" altLang="zh-CN" sz="1400" b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*议论用</a:t>
                      </a:r>
                      <a:r>
                        <a:rPr lang="en-US" altLang="zh-CN" sz="14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r>
                        <a:rPr lang="en-US" altLang="zh-CN" sz="1400" b="1" baseline="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、加强语势，有利于表达强烈感情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增强表达效果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设问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400" b="1" dirty="0" smtClean="0"/>
                        <a:t>本无疑问，自问自答</a:t>
                      </a:r>
                      <a:r>
                        <a:rPr lang="en-US" altLang="zh-CN" sz="1400" b="1" dirty="0" smtClean="0"/>
                        <a:t>(</a:t>
                      </a:r>
                      <a:r>
                        <a:rPr lang="zh-CN" altLang="en-US" sz="1400" b="1" dirty="0" smtClean="0"/>
                        <a:t>也有“问而不答”</a:t>
                      </a:r>
                      <a:r>
                        <a:rPr lang="en-US" altLang="zh-CN" sz="1400" b="1" dirty="0" smtClean="0"/>
                        <a:t>(:</a:t>
                      </a:r>
                      <a:r>
                        <a:rPr lang="zh-CN" altLang="en-US" sz="1400" b="1" dirty="0" smtClean="0"/>
                        <a:t>无须</a:t>
                      </a:r>
                      <a:r>
                        <a:rPr lang="en-US" altLang="zh-CN" sz="1400" b="1" dirty="0" smtClean="0"/>
                        <a:t>&amp;</a:t>
                      </a:r>
                      <a:r>
                        <a:rPr lang="zh-CN" altLang="en-US" sz="1400" b="1" dirty="0" smtClean="0"/>
                        <a:t>无法答  见</a:t>
                      </a:r>
                      <a:r>
                        <a:rPr lang="en-US" altLang="zh-CN" sz="1400" b="1" dirty="0" smtClean="0"/>
                        <a:t>4))</a:t>
                      </a:r>
                      <a:r>
                        <a:rPr lang="zh-CN" altLang="en-US" b="1" dirty="0" smtClean="0"/>
                        <a:t>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、突出，引起注意      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、引发思考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 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、使层次分明，结构紧凑  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、更好地描写人物思想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反问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400" b="1" dirty="0" smtClean="0"/>
                        <a:t>只问不答，答案就在句中     疑问表确定，肯定表否定，否定表肯定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、加强语气，增强气势    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                     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、发人深思，激发读者情感，加深印象 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、增强说服力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引用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400" b="1" dirty="0" smtClean="0"/>
                        <a:t>引用现成的话</a:t>
                      </a:r>
                      <a:r>
                        <a:rPr lang="en-US" altLang="zh-CN" sz="1400" b="1" dirty="0" smtClean="0"/>
                        <a:t>(</a:t>
                      </a:r>
                      <a:r>
                        <a:rPr lang="zh-CN" altLang="en-US" sz="1400" b="1" dirty="0" smtClean="0"/>
                        <a:t>成语、谚语、诗句、格言、数字、典故、某人的话</a:t>
                      </a:r>
                      <a:r>
                        <a:rPr lang="en-US" altLang="zh-CN" sz="1400" b="1" dirty="0" smtClean="0"/>
                        <a:t>)</a:t>
                      </a:r>
                      <a:r>
                        <a:rPr lang="zh-CN" altLang="en-US" sz="1400" b="1" dirty="0" smtClean="0"/>
                        <a:t>，明引</a:t>
                      </a:r>
                      <a:r>
                        <a:rPr lang="en-US" altLang="zh-CN" sz="1400" b="1" dirty="0" smtClean="0"/>
                        <a:t>/</a:t>
                      </a:r>
                      <a:r>
                        <a:rPr lang="zh-CN" altLang="en-US" sz="1400" b="1" dirty="0" smtClean="0"/>
                        <a:t>暗引     </a:t>
                      </a:r>
                      <a:r>
                        <a:rPr kumimoji="0" lang="zh-CN" alt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基本</a:t>
                      </a:r>
                      <a:r>
                        <a:rPr kumimoji="0" lang="en-US" altLang="zh-CN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言简意赅 </a:t>
                      </a:r>
                      <a:endParaRPr kumimoji="0" lang="en-US" altLang="zh-CN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加强真实性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增强表现力 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如文学色彩、抒情韵味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增强说服力    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例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16P14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反语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反话正说 正话反说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、幽默效果            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、讽刺揭露效果，增强战斗性        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                                   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、表示亲密友好感情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、含蓄表达深刻意涵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对比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、充分显示事物的矛盾</a:t>
                      </a:r>
                      <a:r>
                        <a:rPr lang="en-US" altLang="zh-CN" b="1" baseline="0" dirty="0" smtClean="0">
                          <a:solidFill>
                            <a:srgbClr val="FF0000"/>
                          </a:solidFill>
                        </a:rPr>
                        <a:t>              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、鲜明突出事物本质特征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一体两面对比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使事理阐述更透彻全面    总：加强文章艺术效果和感染力</a:t>
                      </a:r>
                      <a:r>
                        <a:rPr lang="zh-CN" altLang="en-US" sz="12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zh-CN" altLang="en-US" sz="1200" b="1" dirty="0" smtClean="0"/>
                        <a:t>黄</a:t>
                      </a:r>
                      <a:r>
                        <a:rPr lang="en-US" altLang="zh-CN" sz="1200" b="1" dirty="0" smtClean="0"/>
                        <a:t>62</a:t>
                      </a:r>
                      <a:r>
                        <a:rPr lang="en-US" altLang="zh-CN" sz="1200" b="1" baseline="0" dirty="0" smtClean="0"/>
                        <a:t> </a:t>
                      </a:r>
                      <a:r>
                        <a:rPr lang="en-US" altLang="zh-CN" sz="1200" b="1" dirty="0" smtClean="0"/>
                        <a:t> 16P39</a:t>
                      </a:r>
                      <a:endParaRPr lang="zh-CN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70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反复</a:t>
                      </a:r>
                      <a:endParaRPr lang="zh-CN" alt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400" b="1" dirty="0" smtClean="0"/>
                        <a:t>连续反复   间隔反复      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强调突出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表达强烈感情       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增强条理性        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                                          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格式整齐有序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回环起伏，充满节奏感、语言美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419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互文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b="1" dirty="0" smtClean="0">
                          <a:solidFill>
                            <a:schemeClr val="tx1"/>
                          </a:solidFill>
                        </a:rPr>
                        <a:t>16P78  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互文见义：同一</a:t>
                      </a:r>
                      <a:r>
                        <a:rPr lang="en-US" altLang="zh-CN" sz="1400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相邻句子中的词语互相补充，结合起来</a:t>
                      </a:r>
                      <a:r>
                        <a:rPr lang="zh-CN" altLang="en-US" sz="14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共同表达一个完整的意思</a:t>
                      </a:r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言简意丰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638944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句式</a:t>
            </a:r>
            <a:r>
              <a:rPr lang="zh-CN" altLang="en-US" dirty="0" smtClean="0"/>
              <a:t>  </a:t>
            </a:r>
            <a:r>
              <a:rPr lang="zh-CN" altLang="en-US" sz="3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效果</a:t>
            </a:r>
            <a:r>
              <a:rPr lang="zh-CN" altLang="en-US" dirty="0" smtClean="0"/>
              <a:t> </a:t>
            </a:r>
            <a:r>
              <a:rPr lang="zh-CN" altLang="en-US" sz="1800" dirty="0"/>
              <a:t>黄</a:t>
            </a:r>
            <a:r>
              <a:rPr lang="en-US" altLang="zh-CN" sz="1800" dirty="0"/>
              <a:t>19</a:t>
            </a:r>
            <a:r>
              <a:rPr lang="zh-CN" altLang="en-US" sz="1800" dirty="0"/>
              <a:t>、</a:t>
            </a:r>
            <a:r>
              <a:rPr lang="en-US" altLang="zh-CN" sz="1800" dirty="0"/>
              <a:t>53    </a:t>
            </a:r>
            <a:r>
              <a:rPr lang="zh-CN" altLang="en-US" sz="1800" dirty="0"/>
              <a:t>试用本</a:t>
            </a:r>
            <a:r>
              <a:rPr lang="en-US" altLang="zh-CN" sz="1800" dirty="0"/>
              <a:t>5</a:t>
            </a:r>
            <a:r>
              <a:rPr lang="zh-CN" altLang="en-US" sz="1800" dirty="0"/>
              <a:t>册附录   </a:t>
            </a:r>
            <a:r>
              <a:rPr lang="en-US" altLang="zh-CN" sz="1800" dirty="0"/>
              <a:t>16P23 55</a:t>
            </a:r>
            <a:endParaRPr lang="zh-CN" altLang="en-US" sz="1800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7560" y="548682"/>
          <a:ext cx="9100944" cy="63161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7584"/>
                <a:gridCol w="720080"/>
                <a:gridCol w="280472"/>
                <a:gridCol w="4472056"/>
                <a:gridCol w="2800752"/>
              </a:tblGrid>
              <a:tr h="528298">
                <a:tc rowSpan="2">
                  <a:txBody>
                    <a:bodyPr/>
                    <a:lstStyle/>
                    <a:p>
                      <a:pPr algn="r"/>
                      <a:r>
                        <a:rPr lang="zh-CN" altLang="en-US" sz="2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整句</a:t>
                      </a:r>
                      <a:endParaRPr lang="zh-CN" altLang="en-US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r>
                        <a:rPr lang="zh-CN" altLang="en-US" sz="1400" b="1" u="none" dirty="0" smtClean="0">
                          <a:solidFill>
                            <a:schemeClr val="tx1"/>
                          </a:solidFill>
                        </a:rPr>
                        <a:t>各句结构相同</a:t>
                      </a:r>
                      <a:r>
                        <a:rPr lang="en-US" altLang="zh-CN" sz="1400" b="1" u="none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400" b="1" u="none" dirty="0" smtClean="0">
                          <a:solidFill>
                            <a:schemeClr val="tx1"/>
                          </a:solidFill>
                        </a:rPr>
                        <a:t>相似，语气一致，</a:t>
                      </a:r>
                      <a:r>
                        <a:rPr lang="zh-CN" altLang="en-US" b="1" i="1" u="sng" dirty="0" smtClean="0">
                          <a:solidFill>
                            <a:srgbClr val="FF0000"/>
                          </a:solidFill>
                        </a:rPr>
                        <a:t>形式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整齐匀称，</a:t>
                      </a:r>
                      <a:r>
                        <a:rPr lang="zh-CN" altLang="en-US" b="1" i="1" u="sng" dirty="0" smtClean="0">
                          <a:solidFill>
                            <a:srgbClr val="FF0000"/>
                          </a:solidFill>
                        </a:rPr>
                        <a:t>音节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和谐，</a:t>
                      </a:r>
                      <a:r>
                        <a:rPr lang="zh-CN" altLang="en-US" b="1" i="1" u="sng" dirty="0" smtClean="0">
                          <a:solidFill>
                            <a:srgbClr val="FF0000"/>
                          </a:solidFill>
                        </a:rPr>
                        <a:t>表意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凝重深沉。气势贯通，意义鲜明，有整齐和谐之美</a:t>
                      </a:r>
                      <a:endParaRPr lang="en-US" altLang="zh-CN" b="1" u="none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整散结合</a:t>
                      </a:r>
                      <a:r>
                        <a:rPr kumimoji="0" lang="en-US" altLang="zh-CN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CN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交错</a:t>
                      </a:r>
                      <a:endParaRPr kumimoji="0" lang="zh-CN" alt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91782">
                <a:tc v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随情设句，富于变化</a:t>
                      </a:r>
                      <a:r>
                        <a:rPr kumimoji="0" lang="en-US" altLang="zh-CN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zh-CN" alt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多起伏、多姿彩</a:t>
                      </a:r>
                      <a:r>
                        <a:rPr kumimoji="0" lang="en-US" altLang="zh-CN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zh-CN" alt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，情文并茂，错落有致，呈现严整</a:t>
                      </a:r>
                      <a:r>
                        <a:rPr kumimoji="0" lang="en-US" altLang="zh-CN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zh-CN" alt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疏放的节奏美</a:t>
                      </a:r>
                      <a:endParaRPr kumimoji="0" lang="zh-CN" alt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744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散句</a:t>
                      </a:r>
                      <a:endParaRPr lang="zh-CN" altLang="en-US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 b="1" u="none" dirty="0" smtClean="0">
                          <a:solidFill>
                            <a:schemeClr val="tx1"/>
                          </a:solidFill>
                        </a:rPr>
                        <a:t>各句结构长短不一，语气各异，</a:t>
                      </a:r>
                      <a:r>
                        <a:rPr lang="zh-CN" altLang="en-US" sz="1800" b="1" u="none" dirty="0" smtClean="0">
                          <a:solidFill>
                            <a:srgbClr val="FF0000"/>
                          </a:solidFill>
                        </a:rPr>
                        <a:t>生动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灵活</a:t>
                      </a:r>
                      <a:r>
                        <a:rPr lang="en-US" altLang="zh-CN" b="1" u="none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活泼</a:t>
                      </a:r>
                      <a:r>
                        <a:rPr lang="en-US" altLang="zh-CN" b="1" u="none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zh-CN" altLang="en-US" sz="1800" b="1" u="none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自然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多变，</a:t>
                      </a:r>
                      <a:r>
                        <a:rPr lang="zh-CN" altLang="en-US" sz="1200" b="1" u="none" dirty="0" smtClean="0">
                          <a:solidFill>
                            <a:schemeClr val="tx1"/>
                          </a:solidFill>
                        </a:rPr>
                        <a:t>避免行文的单调呆板，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有参差错落之美</a:t>
                      </a:r>
                      <a:endParaRPr lang="zh-CN" altLang="en-US" b="1" u="non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vMerge="1">
                  <a:tcPr/>
                </a:tc>
              </a:tr>
              <a:tr h="38973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长句</a:t>
                      </a:r>
                      <a:endParaRPr lang="zh-CN" altLang="en-US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词语多，结构复杂</a:t>
                      </a:r>
                      <a:r>
                        <a:rPr lang="en-US" altLang="zh-CN" sz="1400" b="1" baseline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CN" altLang="en-US" b="1" u="sng" dirty="0" smtClean="0">
                          <a:solidFill>
                            <a:srgbClr val="FF0000"/>
                          </a:solidFill>
                        </a:rPr>
                        <a:t>表意精确、周详、细致、严密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：能精确叙述事物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/ 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严密说理论证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长短句交错</a:t>
                      </a:r>
                      <a:endParaRPr kumimoji="0" lang="zh-CN" alt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0">
                <a:tc rowSpan="2">
                  <a:txBody>
                    <a:bodyPr/>
                    <a:lstStyle/>
                    <a:p>
                      <a:pPr algn="r"/>
                      <a:r>
                        <a:rPr lang="zh-CN" altLang="en-US" sz="2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短句</a:t>
                      </a:r>
                      <a:endParaRPr lang="zh-CN" altLang="en-US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solidFill>
                            <a:schemeClr val="tx1"/>
                          </a:solidFill>
                        </a:rPr>
                        <a:t>词语少，结构简单，</a:t>
                      </a:r>
                      <a:r>
                        <a:rPr lang="zh-CN" altLang="en-US" sz="1400" b="1" u="none" dirty="0" smtClean="0">
                          <a:solidFill>
                            <a:schemeClr val="tx1"/>
                          </a:solidFill>
                        </a:rPr>
                        <a:t>表达短促，</a:t>
                      </a:r>
                      <a:r>
                        <a:rPr lang="zh-CN" altLang="en-US" b="1" u="sng" dirty="0" smtClean="0">
                          <a:solidFill>
                            <a:srgbClr val="FF0000"/>
                          </a:solidFill>
                        </a:rPr>
                        <a:t>表意简洁、明快、有力（气势）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，可表达强烈的情感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/ 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渲染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激烈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紧张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恐怖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气氛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/ 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画龙点睛下结论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vMerge="1">
                  <a:tcPr/>
                </a:tc>
              </a:tr>
              <a:tr h="686648">
                <a:tc v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灵活，更好地表现思想的丰富</a:t>
                      </a:r>
                      <a:r>
                        <a:rPr kumimoji="0" lang="en-US" altLang="zh-C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感情的起伏</a:t>
                      </a:r>
                      <a:endParaRPr kumimoji="0" lang="zh-CN" altLang="en-US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24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sz="2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变式</a:t>
                      </a:r>
                      <a:r>
                        <a:rPr lang="en-US" altLang="zh-CN" sz="2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zh-CN" altLang="en-US" sz="2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倒装</a:t>
                      </a:r>
                      <a:r>
                        <a:rPr lang="en-US" altLang="zh-CN" sz="2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r>
                        <a:rPr lang="zh-CN" altLang="en-US" sz="22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句</a:t>
                      </a:r>
                      <a:endParaRPr lang="zh-CN" altLang="en-US" sz="22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强调突出被移动的句子成分 </a:t>
                      </a:r>
                      <a:r>
                        <a:rPr kumimoji="0" lang="zh-CN" altLang="en-US" sz="13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如后置的定语、后置的状语、倒装的谓语 例</a:t>
                      </a:r>
                      <a:r>
                        <a:rPr kumimoji="0" lang="en-US" altLang="zh-CN" sz="13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16P18 34</a:t>
                      </a:r>
                      <a:r>
                        <a:rPr kumimoji="0" lang="zh-CN" altLang="en-US" sz="13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有</a:t>
                      </a:r>
                      <a:r>
                        <a:rPr kumimoji="0" lang="en-US" altLang="zh-CN" sz="13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zh-CN" altLang="en-US" sz="13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例</a:t>
                      </a:r>
                      <a:endParaRPr kumimoji="0" lang="zh-CN" altLang="en-US" sz="1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38791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口语句式</a:t>
                      </a:r>
                      <a:endParaRPr lang="zh-CN" altLang="en-US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b="1" dirty="0" smtClean="0"/>
                        <a:t>1</a:t>
                      </a:r>
                      <a:r>
                        <a:rPr lang="zh-CN" altLang="en-US" b="1" dirty="0" smtClean="0"/>
                        <a:t>、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结构松散</a:t>
                      </a:r>
                      <a:r>
                        <a:rPr lang="zh-CN" altLang="en-US" b="1" u="none" dirty="0" smtClean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zh-CN" altLang="en-US" b="1" u="sng" dirty="0" smtClean="0"/>
                        <a:t>短句</a:t>
                      </a:r>
                      <a:r>
                        <a:rPr lang="zh-CN" altLang="en-US" b="1" u="none" dirty="0" smtClean="0"/>
                        <a:t>较多，</a:t>
                      </a:r>
                      <a:r>
                        <a:rPr lang="zh-CN" altLang="en-US" b="1" dirty="0" smtClean="0"/>
                        <a:t>用语多</a:t>
                      </a:r>
                      <a:r>
                        <a:rPr lang="zh-CN" altLang="en-US" b="1" u="sng" dirty="0" smtClean="0"/>
                        <a:t>通俗口语</a:t>
                      </a:r>
                      <a:endParaRPr lang="en-US" altLang="zh-CN" b="1" u="sng" dirty="0" smtClean="0"/>
                    </a:p>
                    <a:p>
                      <a:r>
                        <a:rPr lang="en-US" altLang="zh-CN" b="1" dirty="0" smtClean="0"/>
                        <a:t>2</a:t>
                      </a:r>
                      <a:r>
                        <a:rPr lang="zh-CN" altLang="en-US" b="1" dirty="0" smtClean="0"/>
                        <a:t>、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自然，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灵活多变，通俗流畅</a:t>
                      </a:r>
                      <a:r>
                        <a:rPr lang="zh-CN" altLang="en-US" b="1" u="none" dirty="0" smtClean="0"/>
                        <a:t>，</a:t>
                      </a:r>
                      <a:r>
                        <a:rPr lang="zh-CN" altLang="en-US" b="1" u="sng" dirty="0" smtClean="0"/>
                        <a:t>较少关联词语</a:t>
                      </a:r>
                      <a:endParaRPr lang="en-US" altLang="zh-CN" b="1" u="sng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52291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书面句式</a:t>
                      </a:r>
                      <a:endParaRPr lang="zh-CN" altLang="en-US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u="none" dirty="0" smtClean="0"/>
                        <a:t>1</a:t>
                      </a:r>
                      <a:r>
                        <a:rPr lang="zh-CN" altLang="en-US" b="1" u="none" dirty="0" smtClean="0"/>
                        <a:t>、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结构严谨</a:t>
                      </a:r>
                      <a:r>
                        <a:rPr lang="zh-CN" altLang="en-US" b="1" u="none" dirty="0" smtClean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zh-CN" altLang="en-US" b="1" u="sng" dirty="0" smtClean="0"/>
                        <a:t>长句较多</a:t>
                      </a:r>
                      <a:endParaRPr lang="en-US" altLang="zh-CN" b="1" u="none" dirty="0" smtClean="0"/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u="none" dirty="0" smtClean="0"/>
                        <a:t>2</a:t>
                      </a:r>
                      <a:r>
                        <a:rPr lang="zh-CN" altLang="en-US" b="1" u="none" dirty="0" smtClean="0"/>
                        <a:t>、规范、</a:t>
                      </a:r>
                      <a:r>
                        <a:rPr lang="zh-CN" altLang="en-US" b="1" u="none" dirty="0" smtClean="0">
                          <a:solidFill>
                            <a:srgbClr val="FF0000"/>
                          </a:solidFill>
                        </a:rPr>
                        <a:t>庄重，逻辑严密</a:t>
                      </a:r>
                      <a:r>
                        <a:rPr lang="zh-CN" altLang="en-US" b="1" u="none" dirty="0" smtClean="0"/>
                        <a:t>，</a:t>
                      </a:r>
                      <a:r>
                        <a:rPr lang="zh-CN" altLang="en-US" b="1" dirty="0" smtClean="0"/>
                        <a:t>关联词语较多</a:t>
                      </a:r>
                      <a:endParaRPr lang="en-US" altLang="zh-CN" b="1" dirty="0" smtClean="0"/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b="1" dirty="0" smtClean="0"/>
                        <a:t>3</a:t>
                      </a:r>
                      <a:r>
                        <a:rPr lang="zh-CN" altLang="en-US" b="1" dirty="0" smtClean="0"/>
                        <a:t>、注重</a:t>
                      </a:r>
                      <a:r>
                        <a:rPr lang="zh-CN" altLang="en-US" b="1" u="sng" dirty="0" smtClean="0"/>
                        <a:t>加工润色</a:t>
                      </a:r>
                      <a:r>
                        <a:rPr lang="zh-CN" altLang="en-US" b="1" dirty="0" smtClean="0"/>
                        <a:t>、讲究</a:t>
                      </a:r>
                      <a:r>
                        <a:rPr lang="zh-CN" altLang="en-US" b="1" u="sng" dirty="0" smtClean="0"/>
                        <a:t>锤炼语句</a:t>
                      </a:r>
                      <a:r>
                        <a:rPr lang="zh-CN" altLang="en-US" b="1" dirty="0" smtClean="0"/>
                        <a:t>，</a:t>
                      </a:r>
                      <a:r>
                        <a:rPr lang="zh-CN" altLang="en-US" b="1" u="sng" dirty="0" smtClean="0"/>
                        <a:t>有时运用文言句式</a:t>
                      </a:r>
                      <a:endParaRPr lang="zh-CN" alt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79189">
                <a:tc gridSpan="2"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</a:rPr>
                        <a:t>文言句式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典雅、雅致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231608">
                <a:tc gridSpan="2">
                  <a:txBody>
                    <a:bodyPr/>
                    <a:lstStyle/>
                    <a:p>
                      <a:r>
                        <a:rPr lang="en-US" altLang="zh-CN" sz="2300" b="1" dirty="0" smtClean="0"/>
                        <a:t>X</a:t>
                      </a:r>
                      <a:r>
                        <a:rPr lang="zh-CN" altLang="en-US" sz="2300" b="1" dirty="0" smtClean="0"/>
                        <a:t>字句连用</a:t>
                      </a:r>
                      <a:endParaRPr lang="zh-CN" altLang="en-US" sz="23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雅致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流畅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231608">
                <a:tc gridSpan="2">
                  <a:txBody>
                    <a:bodyPr/>
                    <a:lstStyle/>
                    <a:p>
                      <a:r>
                        <a:rPr lang="zh-CN" altLang="en-US" sz="2300" b="1" dirty="0" smtClean="0"/>
                        <a:t>语气句式</a:t>
                      </a:r>
                      <a:endParaRPr lang="zh-CN" altLang="en-US" sz="23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陈述、疑问、祈使、感叹句：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表达不同情感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576064"/>
          </a:xfr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表现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手法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zh-CN" altLang="en-US" sz="3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效果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黄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61  16P4</a:t>
            </a:r>
            <a:endParaRPr lang="zh-CN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35498" y="476672"/>
          <a:ext cx="9107999" cy="6419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/>
                <a:gridCol w="216024"/>
                <a:gridCol w="360040"/>
                <a:gridCol w="288032"/>
                <a:gridCol w="2334454"/>
                <a:gridCol w="264960"/>
                <a:gridCol w="784962"/>
                <a:gridCol w="4211455"/>
              </a:tblGrid>
              <a:tr h="3600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7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实</a:t>
                      </a:r>
                      <a:endParaRPr lang="zh-CN" altLang="en-US" sz="17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使</a:t>
                      </a:r>
                      <a:r>
                        <a:rPr kumimoji="0" lang="en-US" altLang="zh-CN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直接可感</a:t>
                      </a:r>
                      <a:endParaRPr kumimoji="0" lang="en-US" altLang="zh-CN" sz="17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虚</a:t>
                      </a:r>
                      <a:endParaRPr lang="zh-CN" altLang="en-US" sz="1800" b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间接提示、暗示、象征</a:t>
                      </a:r>
                      <a:endParaRPr kumimoji="0" lang="zh-CN" altLang="en-US" sz="17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5928">
                <a:tc gridSpan="2">
                  <a:txBody>
                    <a:bodyPr/>
                    <a:lstStyle/>
                    <a:p>
                      <a:pPr algn="r"/>
                      <a:r>
                        <a:rPr lang="zh-CN" altLang="en-US" sz="2000" b="1" u="sng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虚实相生</a:t>
                      </a:r>
                      <a:endParaRPr lang="zh-CN" altLang="en-US" sz="2000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r>
                        <a:rPr lang="zh-CN" altLang="en-US" sz="1700" b="1" u="sng" dirty="0" smtClean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关系</a:t>
                      </a:r>
                      <a:r>
                        <a:rPr lang="zh-CN" altLang="en-US" sz="1700" b="1" dirty="0" smtClean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altLang="zh-CN" sz="17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7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衬托（正</a:t>
                      </a:r>
                      <a:r>
                        <a:rPr lang="en-US" altLang="zh-CN" sz="17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7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反） </a:t>
                      </a:r>
                      <a:r>
                        <a:rPr lang="en-US" altLang="zh-CN" sz="17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7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对比  </a:t>
                      </a:r>
                      <a:r>
                        <a:rPr lang="en-US" altLang="zh-CN" sz="17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7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结合</a:t>
                      </a:r>
                      <a:r>
                        <a:rPr lang="en-US" altLang="zh-CN" sz="1700" b="1" baseline="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zh-CN" altLang="en-US" sz="1700" b="1" u="sng" dirty="0" smtClean="0">
                          <a:solidFill>
                            <a:schemeClr val="tx1"/>
                          </a:solidFill>
                        </a:rPr>
                        <a:t>先后</a:t>
                      </a:r>
                      <a:r>
                        <a:rPr lang="zh-CN" altLang="en-US" sz="1700" b="1" dirty="0" smtClean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以实带虚 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/ 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以虚带实</a:t>
                      </a:r>
                      <a:r>
                        <a:rPr lang="zh-CN" altLang="en-US" sz="1700" b="1" baseline="0" dirty="0" smtClean="0">
                          <a:solidFill>
                            <a:srgbClr val="FF0000"/>
                          </a:solidFill>
                        </a:rPr>
                        <a:t>    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+  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互相映衬、虚实相生</a:t>
                      </a:r>
                      <a:r>
                        <a:rPr lang="zh-CN" altLang="en-US" sz="1700" b="1" dirty="0" smtClean="0">
                          <a:solidFill>
                            <a:schemeClr val="tx1"/>
                          </a:solidFill>
                        </a:rPr>
                        <a:t>。</a:t>
                      </a:r>
                      <a:r>
                        <a:rPr lang="en-US" altLang="zh-CN" sz="1700" b="1" baseline="0" dirty="0" smtClean="0">
                          <a:solidFill>
                            <a:schemeClr val="tx1"/>
                          </a:solidFill>
                        </a:rPr>
                        <a:t>          </a:t>
                      </a:r>
                      <a:r>
                        <a:rPr lang="en-US" altLang="zh-CN" sz="1700" b="1" u="sng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700" b="1" u="sng" dirty="0" smtClean="0">
                          <a:solidFill>
                            <a:schemeClr val="tx1"/>
                          </a:solidFill>
                        </a:rPr>
                        <a:t>、相辅相成，</a:t>
                      </a:r>
                      <a:r>
                        <a:rPr lang="zh-CN" altLang="en-US" sz="1700" b="1" u="sng" dirty="0" smtClean="0">
                          <a:solidFill>
                            <a:srgbClr val="FF0000"/>
                          </a:solidFill>
                        </a:rPr>
                        <a:t>渲染烘托；</a:t>
                      </a:r>
                      <a:r>
                        <a:rPr lang="en-US" altLang="zh-CN" sz="1700" b="1" u="sng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700" b="1" u="sng" dirty="0" smtClean="0">
                          <a:solidFill>
                            <a:schemeClr val="tx1"/>
                          </a:solidFill>
                        </a:rPr>
                        <a:t>、相反相成，</a:t>
                      </a:r>
                      <a:r>
                        <a:rPr lang="zh-CN" altLang="en-US" sz="1700" b="1" u="sng" dirty="0" smtClean="0">
                          <a:solidFill>
                            <a:srgbClr val="FF0000"/>
                          </a:solidFill>
                        </a:rPr>
                        <a:t>对照强化凸显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。丰富画面、拓展意境、激发想象。          灵活、自由、巧妙、含蓄地表达复杂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丰富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深沉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独特的内涵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旨趣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，强化情感的抒发</a:t>
                      </a:r>
                      <a:endParaRPr lang="zh-CN" altLang="en-US" sz="17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31264">
                <a:tc gridSpan="5">
                  <a:txBody>
                    <a:bodyPr/>
                    <a:lstStyle/>
                    <a:p>
                      <a:pPr algn="r"/>
                      <a:r>
                        <a:rPr lang="zh-CN" altLang="en-US" sz="2000" b="1" u="sng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以动衬静</a:t>
                      </a:r>
                      <a:r>
                        <a:rPr lang="zh-CN" altLang="en-US" sz="2000" b="1" u="non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、</a:t>
                      </a:r>
                      <a:r>
                        <a:rPr lang="zh-CN" altLang="en-US" sz="2000" b="1" u="sng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化静为动</a:t>
                      </a:r>
                      <a:r>
                        <a:rPr lang="zh-CN" altLang="en-US" sz="2000" b="1" u="non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、</a:t>
                      </a:r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以静衬动  </a:t>
                      </a:r>
                      <a:endParaRPr lang="zh-CN" alt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zh-CN" altLang="en-US" sz="17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使</a:t>
                      </a:r>
                      <a:r>
                        <a:rPr kumimoji="0" lang="zh-CN" altLang="en-US" sz="17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景物</a:t>
                      </a:r>
                      <a:r>
                        <a:rPr kumimoji="0" lang="zh-CN" altLang="en-US" sz="17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更栩栩如生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kumimoji="0" lang="en-US" altLang="zh-CN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一方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烘托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另一方，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更突出强化</a:t>
                      </a:r>
                      <a:r>
                        <a:rPr kumimoji="0" lang="en-US" altLang="zh-CN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的感受</a:t>
                      </a:r>
                      <a:endParaRPr kumimoji="0" lang="zh-CN" altLang="en-US" sz="17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95240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sz="2000" b="1" u="sng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动静相映</a:t>
                      </a:r>
                      <a:endParaRPr lang="zh-CN" altLang="en-US" sz="2000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彼此相映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营造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…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的情景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气氛，相得益彰、相映成趣，使人沉浸其中体味意趣</a:t>
                      </a:r>
                      <a:endParaRPr lang="zh-CN" altLang="en-US" sz="17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1048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侧面描写</a:t>
                      </a:r>
                      <a:endParaRPr lang="zh-CN" alt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、使对象更鲜明、突出；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、激起读者丰富的想象 黄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72           </a:t>
                      </a:r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</a:rPr>
                        <a:t>另详见“侧面描写”页</a:t>
                      </a:r>
                      <a:endParaRPr lang="zh-CN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98904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用典</a:t>
                      </a:r>
                      <a:r>
                        <a:rPr lang="en-US" altLang="zh-CN" sz="14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16P78</a:t>
                      </a:r>
                      <a:endParaRPr lang="zh-CN" altLang="en-U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altLang="zh-CN" sz="1700" b="1" dirty="0" smtClean="0"/>
                        <a:t>“</a:t>
                      </a:r>
                      <a:r>
                        <a:rPr lang="zh-CN" altLang="en-US" sz="1700" b="1" dirty="0" smtClean="0"/>
                        <a:t>引用</a:t>
                      </a:r>
                      <a:r>
                        <a:rPr lang="en-US" altLang="zh-CN" sz="1700" b="1" dirty="0" smtClean="0"/>
                        <a:t>”</a:t>
                      </a:r>
                      <a:r>
                        <a:rPr lang="zh-CN" altLang="en-US" sz="1700" b="1" dirty="0" smtClean="0"/>
                        <a:t> 有</a:t>
                      </a:r>
                      <a:r>
                        <a:rPr lang="zh-CN" altLang="en-US" sz="1700" b="1" u="sng" dirty="0" smtClean="0"/>
                        <a:t>来历出处的词句</a:t>
                      </a:r>
                      <a:r>
                        <a:rPr lang="en-US" altLang="zh-CN" sz="1700" b="1" u="sng" dirty="0" smtClean="0"/>
                        <a:t>(</a:t>
                      </a:r>
                      <a:r>
                        <a:rPr lang="zh-CN" altLang="en-US" sz="1700" b="1" u="sng" dirty="0" smtClean="0"/>
                        <a:t>如古诗文等</a:t>
                      </a:r>
                      <a:r>
                        <a:rPr lang="en-US" altLang="zh-CN" sz="1700" b="1" u="sng" dirty="0" smtClean="0"/>
                        <a:t>)</a:t>
                      </a:r>
                      <a:r>
                        <a:rPr lang="en-US" altLang="zh-CN" sz="1700" b="1" dirty="0" smtClean="0"/>
                        <a:t>(:</a:t>
                      </a:r>
                      <a:r>
                        <a:rPr lang="zh-CN" altLang="en-US" sz="1700" b="1" u="sng" dirty="0" smtClean="0"/>
                        <a:t>语典</a:t>
                      </a:r>
                      <a:r>
                        <a:rPr lang="en-US" altLang="zh-CN" sz="1700" b="1" dirty="0" smtClean="0"/>
                        <a:t>)/</a:t>
                      </a:r>
                      <a:r>
                        <a:rPr lang="zh-CN" altLang="en-US" sz="1700" b="1" u="sng" dirty="0" smtClean="0"/>
                        <a:t>古代故事</a:t>
                      </a:r>
                      <a:r>
                        <a:rPr lang="en-US" altLang="zh-CN" sz="1700" b="1" dirty="0" smtClean="0"/>
                        <a:t>(:</a:t>
                      </a:r>
                      <a:r>
                        <a:rPr lang="zh-CN" altLang="en-US" sz="1700" b="1" u="sng" dirty="0" smtClean="0"/>
                        <a:t>事典</a:t>
                      </a:r>
                      <a:r>
                        <a:rPr lang="en-US" altLang="zh-CN" sz="1700" b="1" dirty="0" smtClean="0"/>
                        <a:t>)</a:t>
                      </a:r>
                      <a:r>
                        <a:rPr lang="zh-CN" altLang="en-US" sz="1700" b="1" dirty="0" smtClean="0"/>
                        <a:t>         </a:t>
                      </a:r>
                      <a:endParaRPr lang="en-US" altLang="zh-CN" sz="1700" b="1" dirty="0" smtClean="0"/>
                    </a:p>
                    <a:p>
                      <a:r>
                        <a:rPr lang="en-US" altLang="zh-CN" sz="1700" b="1" dirty="0" smtClean="0"/>
                        <a:t>1</a:t>
                      </a:r>
                      <a:r>
                        <a:rPr lang="zh-CN" altLang="en-US" sz="1700" b="1" dirty="0" smtClean="0"/>
                        <a:t>、典故本身内容 </a:t>
                      </a:r>
                      <a:r>
                        <a:rPr lang="en-US" altLang="zh-CN" sz="1700" b="1" dirty="0" smtClean="0"/>
                        <a:t>+ 2</a:t>
                      </a:r>
                      <a:r>
                        <a:rPr lang="zh-CN" altLang="en-US" sz="1700" b="1" dirty="0" smtClean="0"/>
                        <a:t>、典故在语境中的作用</a:t>
                      </a:r>
                      <a:r>
                        <a:rPr lang="en-US" altLang="zh-CN" sz="1700" b="1" dirty="0" smtClean="0"/>
                        <a:t>(</a:t>
                      </a:r>
                      <a:r>
                        <a:rPr lang="zh-CN" altLang="en-US" sz="1700" b="1" dirty="0" smtClean="0"/>
                        <a:t>：作者用典的意图</a:t>
                      </a:r>
                      <a:r>
                        <a:rPr lang="en-US" altLang="zh-CN" sz="1700" b="1" dirty="0" smtClean="0"/>
                        <a:t>)</a:t>
                      </a:r>
                      <a:endParaRPr lang="en-US" altLang="zh-CN" sz="1700" b="1" dirty="0" smtClean="0"/>
                    </a:p>
                    <a:p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、使</a:t>
                      </a:r>
                      <a:r>
                        <a:rPr lang="zh-CN" altLang="en-US" sz="1700" b="1" i="1" u="sng" dirty="0" smtClean="0">
                          <a:solidFill>
                            <a:srgbClr val="FF0000"/>
                          </a:solidFill>
                        </a:rPr>
                        <a:t>语言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精练</a:t>
                      </a:r>
                      <a:r>
                        <a:rPr lang="en-US" altLang="zh-CN" sz="1700" b="1" baseline="0" dirty="0" smtClean="0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、使</a:t>
                      </a:r>
                      <a:r>
                        <a:rPr lang="zh-CN" altLang="en-US" sz="1700" b="1" i="1" u="sng" dirty="0" smtClean="0">
                          <a:solidFill>
                            <a:srgbClr val="FF0000"/>
                          </a:solidFill>
                        </a:rPr>
                        <a:t>内容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丰富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使</a:t>
                      </a:r>
                      <a:r>
                        <a:rPr lang="zh-CN" altLang="en-US" sz="1700" b="1" i="1" u="sng" dirty="0" smtClean="0">
                          <a:solidFill>
                            <a:srgbClr val="FF0000"/>
                          </a:solidFill>
                        </a:rPr>
                        <a:t>表达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生动、含蓄，增强表现力、感染力</a:t>
                      </a:r>
                      <a:endParaRPr lang="zh-CN" altLang="en-US" sz="17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32576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sz="20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象征</a:t>
                      </a:r>
                      <a:endParaRPr lang="zh-CN" altLang="en-US" sz="2000" b="1" u="sng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r>
                        <a:rPr lang="zh-CN" altLang="en-US" sz="1700" b="1" dirty="0" smtClean="0"/>
                        <a:t>通过特定的具体形象，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引起想象、联想</a:t>
                      </a:r>
                      <a:r>
                        <a:rPr lang="zh-CN" altLang="en-US" sz="1700" b="1" dirty="0" smtClean="0"/>
                        <a:t>，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艺术地表现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……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的概念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思想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情感，借此言彼，使主旨含而不露、隐而不晦  </a:t>
                      </a:r>
                      <a:r>
                        <a:rPr lang="zh-CN" altLang="en-US" sz="1700" b="1" dirty="0" smtClean="0">
                          <a:solidFill>
                            <a:schemeClr val="tx1"/>
                          </a:solidFill>
                        </a:rPr>
                        <a:t>例</a:t>
                      </a:r>
                      <a:r>
                        <a:rPr lang="en-US" altLang="zh-CN" sz="1700" b="1" dirty="0" smtClean="0">
                          <a:solidFill>
                            <a:schemeClr val="tx1"/>
                          </a:solidFill>
                        </a:rPr>
                        <a:t>16P34</a:t>
                      </a:r>
                      <a:endParaRPr lang="en-US" altLang="zh-CN" sz="17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30092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铺垫</a:t>
                      </a:r>
                      <a:endParaRPr lang="zh-CN" alt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r>
                        <a:rPr lang="zh-CN" altLang="en-US" sz="1700" b="1" dirty="0" smtClean="0"/>
                        <a:t>通过着重描述渲染，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为主要人物出场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主要事件发生创造条件，</a:t>
                      </a:r>
                      <a:endParaRPr lang="en-US" altLang="zh-CN" sz="1700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、增添情节张力，制造悬念</a:t>
                      </a:r>
                      <a:r>
                        <a:rPr lang="zh-CN" altLang="en-US" sz="1700" b="1" baseline="0" dirty="0" smtClean="0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      </a:t>
                      </a:r>
                      <a:r>
                        <a:rPr lang="en-US" altLang="zh-CN" sz="17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、使情节具有合理性</a:t>
                      </a:r>
                      <a:endParaRPr lang="zh-CN" altLang="en-US" sz="17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30092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托物言志</a:t>
                      </a:r>
                      <a:endParaRPr lang="zh-CN" alt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r>
                        <a:rPr lang="zh-CN" altLang="en-US" sz="1700" b="1" dirty="0" smtClean="0"/>
                        <a:t>运用比喻</a:t>
                      </a:r>
                      <a:r>
                        <a:rPr lang="en-US" altLang="zh-CN" sz="1700" b="1" dirty="0" smtClean="0"/>
                        <a:t>/</a:t>
                      </a:r>
                      <a:r>
                        <a:rPr lang="zh-CN" altLang="en-US" sz="1700" b="1" dirty="0" smtClean="0"/>
                        <a:t>拟人</a:t>
                      </a:r>
                      <a:r>
                        <a:rPr lang="en-US" altLang="zh-CN" sz="1700" b="1" dirty="0" smtClean="0"/>
                        <a:t>/</a:t>
                      </a:r>
                      <a:r>
                        <a:rPr lang="zh-CN" altLang="en-US" sz="1700" b="1" dirty="0" smtClean="0"/>
                        <a:t>象征，借助物的特性，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委婉曲折表达情感</a:t>
                      </a:r>
                      <a:endParaRPr lang="zh-CN" altLang="en-US" sz="17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76952">
                <a:tc gridSpan="4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衬托</a:t>
                      </a:r>
                      <a:r>
                        <a:rPr lang="en-US" altLang="zh-CN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/</a:t>
                      </a:r>
                      <a:r>
                        <a:rPr lang="zh-CN" altLang="en-US" sz="2000" b="1" u="sng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烘托</a:t>
                      </a:r>
                      <a:endParaRPr lang="zh-CN" altLang="en-US" sz="2000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从侧面描写，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鲜明突出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主体的特点</a:t>
                      </a:r>
                      <a:r>
                        <a:rPr kumimoji="0" lang="en-US" altLang="zh-CN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CN" altLang="en-US" sz="17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特质</a:t>
                      </a:r>
                      <a:endParaRPr kumimoji="0" lang="zh-CN" altLang="en-US" sz="17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30092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b="1" u="sng" dirty="0" smtClean="0"/>
                        <a:t>抑扬</a:t>
                      </a:r>
                      <a:endParaRPr lang="zh-CN" alt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r>
                        <a:rPr lang="zh-CN" altLang="en-US" sz="1700" b="1" dirty="0" smtClean="0"/>
                        <a:t>先扬后抑</a:t>
                      </a:r>
                      <a:r>
                        <a:rPr lang="en-US" altLang="zh-CN" sz="1700" b="1" dirty="0" smtClean="0"/>
                        <a:t>,</a:t>
                      </a:r>
                      <a:r>
                        <a:rPr lang="zh-CN" altLang="en-US" sz="1700" b="1" dirty="0" smtClean="0"/>
                        <a:t>先抑后扬</a:t>
                      </a:r>
                      <a:r>
                        <a:rPr lang="en-US" altLang="zh-CN" sz="1700" b="1" dirty="0" smtClean="0"/>
                        <a:t>,</a:t>
                      </a:r>
                      <a:r>
                        <a:rPr lang="zh-CN" altLang="en-US" sz="1700" b="1" dirty="0" smtClean="0"/>
                        <a:t>明扬实抑</a:t>
                      </a:r>
                      <a:r>
                        <a:rPr lang="en-US" altLang="zh-CN" sz="1700" b="1" dirty="0" smtClean="0"/>
                        <a:t>,</a:t>
                      </a:r>
                      <a:r>
                        <a:rPr lang="zh-CN" altLang="en-US" sz="1700" b="1" dirty="0" smtClean="0"/>
                        <a:t>抑中有扬</a:t>
                      </a:r>
                      <a:r>
                        <a:rPr lang="en-US" altLang="zh-CN" sz="1700" b="1" dirty="0" smtClean="0"/>
                        <a:t>——</a:t>
                      </a:r>
                      <a:r>
                        <a:rPr lang="zh-CN" altLang="en-US" sz="1700" b="1" dirty="0" smtClean="0"/>
                        <a:t>*注意</a:t>
                      </a:r>
                      <a:r>
                        <a:rPr lang="zh-CN" altLang="en-US" sz="1700" b="1" u="sng" dirty="0" smtClean="0"/>
                        <a:t>先后</a:t>
                      </a:r>
                      <a:r>
                        <a:rPr lang="zh-CN" altLang="en-US" sz="1700" b="1" dirty="0" smtClean="0"/>
                        <a:t>与</a:t>
                      </a:r>
                      <a:r>
                        <a:rPr lang="zh-CN" altLang="en-US" sz="1700" b="1" u="sng" dirty="0" smtClean="0"/>
                        <a:t>目的</a:t>
                      </a:r>
                      <a:endParaRPr lang="en-US" altLang="zh-CN" sz="1700" b="1" u="sng" dirty="0" smtClean="0"/>
                    </a:p>
                    <a:p>
                      <a:r>
                        <a:rPr lang="zh-CN" altLang="en-US" sz="1700" b="1" dirty="0" smtClean="0"/>
                        <a:t>以抑显扬：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扬得更高</a:t>
                      </a:r>
                      <a:r>
                        <a:rPr lang="zh-CN" altLang="en-US" sz="1700" b="1" dirty="0" smtClean="0"/>
                        <a:t>，以扬垫：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抑得更深</a:t>
                      </a:r>
                      <a:r>
                        <a:rPr lang="zh-CN" altLang="en-US" sz="1700" b="1" dirty="0" smtClean="0"/>
                        <a:t>，总：</a:t>
                      </a:r>
                      <a:r>
                        <a:rPr lang="zh-CN" altLang="en-US" sz="1700" b="1" dirty="0" smtClean="0">
                          <a:solidFill>
                            <a:srgbClr val="FF0000"/>
                          </a:solidFill>
                        </a:rPr>
                        <a:t>使人信服，突出要点</a:t>
                      </a:r>
                      <a:endParaRPr lang="zh-CN" altLang="en-US" sz="17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576064"/>
          </a:xfr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表现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手法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zh-CN" altLang="en-US" sz="3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效果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黄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61  16P4</a:t>
            </a:r>
            <a:endParaRPr lang="zh-CN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35498" y="476672"/>
          <a:ext cx="9107999" cy="63007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6"/>
                <a:gridCol w="360040"/>
                <a:gridCol w="288032"/>
                <a:gridCol w="144016"/>
                <a:gridCol w="216024"/>
                <a:gridCol w="7235791"/>
              </a:tblGrid>
              <a:tr h="97191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000" b="1" u="sng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比兴寄托</a:t>
                      </a:r>
                      <a:endParaRPr lang="zh-CN" altLang="en-US" sz="2000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5"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16P79 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比：比喻。兴：先言他物以引起所咏之词。  常在开篇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比兴连用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——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托物起兴。</a:t>
                      </a:r>
                      <a:endParaRPr lang="en-US" altLang="zh-CN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、突出特征，使形象鲜明  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、渲染，创设深邃的艺术境界  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、引发丰富联想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30092">
                <a:tc gridSpan="3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以小见大</a:t>
                      </a:r>
                      <a:endParaRPr lang="zh-CN" alt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16P79  1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典型特征小景物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，唤起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大境界</a:t>
                      </a:r>
                      <a:endParaRPr kumimoji="0" lang="en-US" altLang="zh-CN" sz="1800" b="1" i="0" u="sng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、借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典型意义生活细节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，表现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重大社会主题 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16P85(</a:t>
                      </a: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四</a:t>
                      </a:r>
                      <a:r>
                        <a:rPr kumimoji="0" lang="en-US" altLang="zh-CN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题</a:t>
                      </a:r>
                      <a:endParaRPr kumimoji="0" lang="zh-CN" altLang="en-US" sz="1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30092">
                <a:tc gridSpan="4">
                  <a:txBody>
                    <a:bodyPr/>
                    <a:lstStyle/>
                    <a:p>
                      <a:pPr algn="r"/>
                      <a:r>
                        <a:rPr lang="zh-CN" altLang="en-US" sz="2000" b="1" u="sng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借古讽今</a:t>
                      </a:r>
                      <a:endParaRPr lang="zh-CN" altLang="en-US" sz="2000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16P79 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例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80  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借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评论</a:t>
                      </a:r>
                      <a:r>
                        <a:rPr lang="en-US" altLang="zh-CN" b="1" u="sng" dirty="0" smtClean="0">
                          <a:solidFill>
                            <a:schemeClr val="tx1"/>
                          </a:solidFill>
                        </a:rPr>
                        <a:t>(: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颂</a:t>
                      </a:r>
                      <a:r>
                        <a:rPr lang="en-US" altLang="zh-CN" b="1" u="sng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贬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古代的人和事，以其经验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教训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作借鉴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，来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影射讽刺</a:t>
                      </a:r>
                      <a:r>
                        <a:rPr lang="en-US" altLang="zh-CN" b="1" u="sng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提建议给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现实    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古今两相对照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反衬，表达主旨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30092">
                <a:tc gridSpan="4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卒章显志</a:t>
                      </a:r>
                      <a:endParaRPr lang="zh-CN" alt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16P79  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在结尾表达心志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情怀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14180">
                <a:tc gridSpan="4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意象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16P80   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在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客观物象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（人、景、物）中融入情感，表达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主观情思</a:t>
                      </a:r>
                      <a:endParaRPr kumimoji="0" lang="en-US" altLang="zh-CN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30092">
                <a:tc gridSpan="4">
                  <a:txBody>
                    <a:bodyPr/>
                    <a:lstStyle/>
                    <a:p>
                      <a:pPr algn="r"/>
                      <a:r>
                        <a:rPr lang="zh-CN" altLang="en-US" sz="20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意象叠加</a:t>
                      </a:r>
                      <a:r>
                        <a:rPr lang="en-US" altLang="zh-CN" sz="20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/</a:t>
                      </a:r>
                      <a:r>
                        <a:rPr lang="zh-CN" altLang="en-US" sz="20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组合</a:t>
                      </a:r>
                      <a:r>
                        <a:rPr lang="en-US" altLang="zh-CN" sz="20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zh-CN" altLang="en-US" sz="20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名词组合</a:t>
                      </a:r>
                      <a:r>
                        <a:rPr lang="en-US" altLang="zh-CN" sz="20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 </a:t>
                      </a:r>
                      <a:r>
                        <a:rPr lang="zh-CN" altLang="en-US" sz="20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      </a:t>
                      </a:r>
                      <a:endParaRPr lang="en-US" altLang="zh-CN" sz="2000" b="1" u="sng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16P80 81 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多个意象叠加，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烘托、营造出整体的氛围（</a:t>
                      </a: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意境）</a:t>
                      </a:r>
                      <a:endParaRPr lang="zh-CN" altLang="en-US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抒情（借景抒情</a:t>
                      </a:r>
                      <a:r>
                        <a:rPr lang="en-US" altLang="zh-CN" sz="18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托物言志）  </a:t>
                      </a:r>
                      <a:r>
                        <a:rPr kumimoji="0" lang="en-US" altLang="zh-CN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16P84(</a:t>
                      </a:r>
                      <a:r>
                        <a:rPr kumimoji="0" lang="zh-CN" alt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二</a:t>
                      </a:r>
                      <a:r>
                        <a:rPr kumimoji="0" lang="en-US" altLang="zh-CN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b="1" u="none" dirty="0" smtClean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30092">
                <a:tc gridSpan="4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典型意象</a:t>
                      </a:r>
                      <a:endParaRPr lang="zh-CN" alt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16P80 </a:t>
                      </a:r>
                      <a:r>
                        <a:rPr lang="zh-CN" altLang="en-US" sz="1800" b="1" dirty="0" smtClean="0">
                          <a:solidFill>
                            <a:srgbClr val="FF0000"/>
                          </a:solidFill>
                        </a:rPr>
                        <a:t>具有、表达特定含义  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“柳”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——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留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——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伤离别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30092">
                <a:tc gridSpan="4">
                  <a:txBody>
                    <a:bodyPr/>
                    <a:lstStyle/>
                    <a:p>
                      <a:pPr algn="r"/>
                      <a:r>
                        <a:rPr lang="zh-CN" altLang="en-US" sz="20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情景关系</a:t>
                      </a:r>
                      <a:endParaRPr lang="zh-CN" altLang="en-US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16P81  1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CN" altLang="en-US" sz="18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情随境生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：先看景，睹景后有思，再借写景表情思  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CN" altLang="en-US" sz="18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融情入景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：先有情思，再看景，之后写景以抒情，景中融情  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CN" altLang="en-US" sz="1800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体贴物情，物我情融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：景之特质使人将之拟人化，产生情感共鸣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76952">
                <a:tc gridSpan="5">
                  <a:txBody>
                    <a:bodyPr/>
                    <a:lstStyle/>
                    <a:p>
                      <a:pPr algn="l"/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含蓄</a:t>
                      </a:r>
                      <a:r>
                        <a:rPr kumimoji="0" lang="en-US" altLang="zh-C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en-US" altLang="zh-CN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曲笔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象征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隐喻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0" lang="zh-CN" altLang="en-US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暗示</a:t>
                      </a:r>
                      <a:r>
                        <a:rPr kumimoji="0" lang="en-US" altLang="zh-CN" sz="1800" b="1" i="0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2000" b="1" u="sng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将</a:t>
                      </a:r>
                      <a:r>
                        <a:rPr kumimoji="0" lang="zh-CN" altLang="en-US" sz="1800" b="1" i="1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深刻的思想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隐含在所描绘的</a:t>
                      </a:r>
                      <a:r>
                        <a:rPr kumimoji="0" lang="zh-CN" altLang="en-US" sz="1800" b="1" i="1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形象</a:t>
                      </a:r>
                      <a:r>
                        <a:rPr kumimoji="0" lang="en-US" altLang="zh-C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精心组织的</a:t>
                      </a:r>
                      <a:r>
                        <a:rPr kumimoji="0" lang="zh-CN" altLang="en-US" sz="1800" b="1" i="1" u="sng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语句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中，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意在言外，藏而不露，引发读者想象与无穷回味，形成含蓄效果     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隐喻</a:t>
                      </a:r>
                      <a:r>
                        <a:rPr kumimoji="0" lang="en-US" altLang="zh-C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16P85 </a:t>
                      </a:r>
                      <a:r>
                        <a:rPr kumimoji="0" lang="zh-CN" altLang="en-US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题</a:t>
                      </a:r>
                      <a:endParaRPr kumimoji="0" lang="zh-CN" altLang="en-US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 gridSpan="2">
                  <a:txBody>
                    <a:bodyPr/>
                    <a:lstStyle/>
                    <a:p>
                      <a:pPr algn="r"/>
                      <a:endParaRPr lang="zh-CN" altLang="en-US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710952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语言风格  </a:t>
            </a:r>
            <a:r>
              <a:rPr lang="zh-CN" altLang="en-US" sz="1600" dirty="0"/>
              <a:t>黄</a:t>
            </a:r>
            <a:r>
              <a:rPr lang="en-US" altLang="zh-CN" sz="1600" dirty="0"/>
              <a:t>20</a:t>
            </a:r>
            <a:r>
              <a:rPr lang="zh-CN" altLang="en-US" sz="1600" dirty="0"/>
              <a:t>，黄</a:t>
            </a:r>
            <a:r>
              <a:rPr lang="en-US" altLang="zh-CN" sz="1600" dirty="0"/>
              <a:t>59,16P5</a:t>
            </a:r>
            <a:r>
              <a:rPr lang="zh-CN" altLang="en-US" sz="1600" dirty="0"/>
              <a:t>、</a:t>
            </a:r>
            <a:r>
              <a:rPr lang="en-US" altLang="zh-CN" sz="1600" dirty="0"/>
              <a:t>11 </a:t>
            </a:r>
            <a:r>
              <a:rPr lang="zh-CN" altLang="en-US" sz="1600" dirty="0"/>
              <a:t>例           古诗</a:t>
            </a:r>
            <a:r>
              <a:rPr lang="en-US" altLang="zh-CN" sz="1600" dirty="0"/>
              <a:t>16P81 82</a:t>
            </a:r>
            <a:endParaRPr lang="zh-CN" altLang="en-US" sz="1600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107507" y="836712"/>
          <a:ext cx="8856983" cy="73455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87"/>
                <a:gridCol w="8064896"/>
              </a:tblGrid>
              <a:tr h="864096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朴素</a:t>
                      </a:r>
                      <a:r>
                        <a:rPr lang="en-US" altLang="zh-CN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现</a:t>
                      </a:r>
                      <a:r>
                        <a:rPr lang="en-US" altLang="zh-CN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u="sng" dirty="0" smtClean="0"/>
                        <a:t>描述平直</a:t>
                      </a:r>
                      <a:r>
                        <a:rPr lang="zh-CN" altLang="en-US" b="1" dirty="0" smtClean="0"/>
                        <a:t>，</a:t>
                      </a:r>
                      <a:r>
                        <a:rPr lang="zh-CN" altLang="en-US" b="1" u="sng" dirty="0" smtClean="0"/>
                        <a:t>少修饰词眼</a:t>
                      </a:r>
                      <a:endParaRPr lang="en-US" altLang="zh-CN" b="1" u="sng" dirty="0" smtClean="0"/>
                    </a:p>
                    <a:p>
                      <a:r>
                        <a:rPr lang="zh-CN" altLang="en-US" b="1" dirty="0" smtClean="0"/>
                        <a:t> *也可同时又</a:t>
                      </a:r>
                      <a:r>
                        <a:rPr lang="zh-CN" altLang="en-US" b="1" u="sng" dirty="0" smtClean="0"/>
                        <a:t>富表现力</a:t>
                      </a:r>
                      <a:r>
                        <a:rPr lang="zh-CN" altLang="en-US" b="1" dirty="0" smtClean="0"/>
                        <a:t>：</a:t>
                      </a:r>
                      <a:r>
                        <a:rPr lang="en-US" altLang="zh-CN" b="1" dirty="0" smtClean="0"/>
                        <a:t>1</a:t>
                      </a:r>
                      <a:r>
                        <a:rPr lang="zh-CN" altLang="en-US" b="1" dirty="0" smtClean="0"/>
                        <a:t>、</a:t>
                      </a:r>
                      <a:r>
                        <a:rPr lang="zh-CN" altLang="en-US" b="1" u="sng" dirty="0" smtClean="0"/>
                        <a:t>用词充满日常生活气息</a:t>
                      </a:r>
                      <a:r>
                        <a:rPr lang="zh-CN" altLang="en-US" b="1" dirty="0" smtClean="0"/>
                        <a:t> </a:t>
                      </a:r>
                      <a:r>
                        <a:rPr lang="en-US" altLang="zh-CN" b="1" dirty="0" smtClean="0"/>
                        <a:t>(:</a:t>
                      </a:r>
                      <a:r>
                        <a:rPr lang="zh-CN" altLang="en-US" b="1" dirty="0" smtClean="0"/>
                        <a:t>如比喻喻体“像大豆腐”</a:t>
                      </a:r>
                      <a:r>
                        <a:rPr lang="en-US" altLang="zh-CN" b="1" dirty="0" smtClean="0"/>
                        <a:t>)</a:t>
                      </a:r>
                      <a:r>
                        <a:rPr lang="zh-CN" altLang="en-US" b="1" dirty="0" smtClean="0"/>
                        <a:t>，</a:t>
                      </a:r>
                      <a:r>
                        <a:rPr lang="en-US" altLang="zh-CN" b="1" dirty="0" smtClean="0"/>
                        <a:t>2</a:t>
                      </a:r>
                      <a:r>
                        <a:rPr lang="zh-CN" altLang="en-US" b="1" dirty="0" smtClean="0"/>
                        <a:t>、描写</a:t>
                      </a:r>
                      <a:r>
                        <a:rPr lang="zh-CN" altLang="en-US" b="1" u="sng" dirty="0" smtClean="0"/>
                        <a:t>用词简洁</a:t>
                      </a:r>
                      <a:r>
                        <a:rPr lang="zh-CN" altLang="en-US" b="1" dirty="0" smtClean="0"/>
                        <a:t>而</a:t>
                      </a:r>
                      <a:r>
                        <a:rPr lang="zh-CN" altLang="en-US" b="1" u="sng" dirty="0" smtClean="0"/>
                        <a:t>准确生动</a:t>
                      </a:r>
                      <a:r>
                        <a:rPr lang="zh-CN" altLang="en-US" b="1" dirty="0" smtClean="0"/>
                        <a:t>，</a:t>
                      </a:r>
                      <a:r>
                        <a:rPr lang="en-US" altLang="zh-CN" b="1" dirty="0" smtClean="0"/>
                        <a:t>3</a:t>
                      </a:r>
                      <a:r>
                        <a:rPr lang="zh-CN" altLang="en-US" b="1" dirty="0" smtClean="0"/>
                        <a:t>、</a:t>
                      </a:r>
                      <a:r>
                        <a:rPr lang="zh-CN" altLang="en-US" b="1" u="sng" dirty="0" smtClean="0"/>
                        <a:t>短句</a:t>
                      </a:r>
                      <a:r>
                        <a:rPr lang="zh-CN" altLang="en-US" b="1" dirty="0" smtClean="0"/>
                        <a:t>，</a:t>
                      </a:r>
                      <a:r>
                        <a:rPr lang="zh-CN" altLang="en-US" b="1" u="sng" dirty="0" smtClean="0"/>
                        <a:t>方言特色</a:t>
                      </a:r>
                      <a:r>
                        <a:rPr lang="zh-CN" altLang="en-US" b="1" dirty="0" smtClean="0"/>
                        <a:t>，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有韵味</a:t>
                      </a:r>
                      <a:endParaRPr lang="zh-CN" altLang="en-US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典雅</a:t>
                      </a:r>
                      <a:r>
                        <a:rPr lang="en-US" altLang="zh-CN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现</a:t>
                      </a:r>
                      <a:r>
                        <a:rPr lang="en-US" altLang="zh-CN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u="sng" dirty="0" smtClean="0"/>
                        <a:t>文学气息</a:t>
                      </a:r>
                      <a:r>
                        <a:rPr lang="zh-CN" altLang="en-US" b="1" dirty="0" smtClean="0"/>
                        <a:t>：</a:t>
                      </a:r>
                      <a:r>
                        <a:rPr lang="en-US" altLang="zh-CN" b="1" dirty="0" smtClean="0"/>
                        <a:t>1</a:t>
                      </a:r>
                      <a:r>
                        <a:rPr lang="zh-CN" altLang="en-US" b="1" dirty="0" smtClean="0"/>
                        <a:t>、四</a:t>
                      </a:r>
                      <a:r>
                        <a:rPr lang="zh-CN" altLang="en-US" b="1" u="sng" dirty="0" smtClean="0"/>
                        <a:t>字句连用</a:t>
                      </a:r>
                      <a:r>
                        <a:rPr lang="zh-CN" altLang="en-US" b="1" dirty="0" smtClean="0"/>
                        <a:t>，</a:t>
                      </a:r>
                      <a:r>
                        <a:rPr lang="zh-CN" altLang="en-US" b="1" u="sng" dirty="0" smtClean="0"/>
                        <a:t>雅致通畅</a:t>
                      </a:r>
                      <a:r>
                        <a:rPr lang="zh-CN" altLang="en-US" b="1" dirty="0" smtClean="0"/>
                        <a:t>，</a:t>
                      </a:r>
                      <a:r>
                        <a:rPr lang="en-US" altLang="zh-CN" b="1" dirty="0" smtClean="0"/>
                        <a:t>2</a:t>
                      </a:r>
                      <a:r>
                        <a:rPr lang="zh-CN" altLang="en-US" b="1" dirty="0" smtClean="0"/>
                        <a:t>、</a:t>
                      </a:r>
                      <a:r>
                        <a:rPr lang="zh-CN" altLang="en-US" b="1" u="sng" dirty="0" smtClean="0"/>
                        <a:t>文言古典词汇</a:t>
                      </a:r>
                      <a:r>
                        <a:rPr lang="en-US" altLang="zh-CN" b="1" dirty="0" smtClean="0"/>
                        <a:t>+</a:t>
                      </a:r>
                      <a:r>
                        <a:rPr lang="zh-CN" altLang="en-US" b="1" u="sng" dirty="0" smtClean="0"/>
                        <a:t>现代语言</a:t>
                      </a:r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巧妙融会贯通，别致感受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含蓄</a:t>
                      </a:r>
                      <a:r>
                        <a:rPr lang="en-US" altLang="zh-CN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现</a:t>
                      </a:r>
                      <a:r>
                        <a:rPr lang="en-US" altLang="zh-CN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如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将情感态度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针砭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肯定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融于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简洁、平淡的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描写中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；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将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厚重的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</a:rPr>
                        <a:t>思考融于趣味幽默中</a:t>
                      </a:r>
                      <a:endParaRPr lang="zh-CN" altLang="en-US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典雅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语言丰富有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文采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，从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形、声、色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多方面描写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平实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语言朴素浅近，不修饰，不堆砌典故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明快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明白流畅，不迂回婉转，直言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其事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，直接显现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思想感情</a:t>
                      </a:r>
                      <a:endParaRPr lang="zh-CN" altLang="en-US" b="1" u="sng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含蓄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运用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曲笔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象征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隐喻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暗示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，将</a:t>
                      </a:r>
                      <a:r>
                        <a:rPr lang="zh-CN" altLang="en-US" b="1" i="1" u="sng" dirty="0" smtClean="0">
                          <a:solidFill>
                            <a:schemeClr val="tx1"/>
                          </a:solidFill>
                        </a:rPr>
                        <a:t>深刻的思想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隐含在所描绘的</a:t>
                      </a:r>
                      <a:r>
                        <a:rPr lang="zh-CN" altLang="en-US" b="1" i="1" u="sng" dirty="0" smtClean="0">
                          <a:solidFill>
                            <a:schemeClr val="tx1"/>
                          </a:solidFill>
                        </a:rPr>
                        <a:t>形象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精心组织的</a:t>
                      </a:r>
                      <a:r>
                        <a:rPr lang="zh-CN" altLang="en-US" b="1" i="1" u="sng" dirty="0" smtClean="0">
                          <a:solidFill>
                            <a:schemeClr val="tx1"/>
                          </a:solidFill>
                        </a:rPr>
                        <a:t>语句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中，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意在言外，藏而不露，引发读者想象与无穷回味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刚健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气势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豪迈壮阔，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感情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奔放激烈，</a:t>
                      </a:r>
                      <a:r>
                        <a:rPr lang="zh-CN" altLang="en-US" b="1" i="0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笔力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刚健遒劲，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境界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雄奇浑厚，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有阳刚之美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柔婉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柔和优美，内在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情感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和美，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用语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秀丽清新，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抒情表意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曲折委婉，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具有阴柔之美，闲静和谐之感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庄重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典雅端重，多用色彩庄重的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词语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和严谨完整的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句式</a:t>
                      </a:r>
                      <a:endParaRPr lang="zh-CN" altLang="en-US" b="1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诙谐</a:t>
                      </a:r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语言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灵活生动自然，通俗形象，风趣幽默，洋溢着丰富的</a:t>
                      </a:r>
                      <a:r>
                        <a:rPr lang="zh-CN" altLang="en-US" b="1" u="sng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情感</a:t>
                      </a:r>
                      <a:endParaRPr lang="zh-CN" altLang="en-US" b="1" u="sng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92">
                <a:tc>
                  <a:txBody>
                    <a:bodyPr/>
                    <a:lstStyle/>
                    <a:p>
                      <a:endParaRPr lang="zh-CN" alt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4968"/>
          </a:xfrm>
          <a:solidFill>
            <a:srgbClr val="92D050"/>
          </a:solidFill>
        </p:spPr>
        <p:txBody>
          <a:bodyPr/>
          <a:lstStyle/>
          <a:p>
            <a:r>
              <a:rPr lang="zh-CN" alt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题型</a:t>
            </a:r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答题套路</a:t>
            </a:r>
            <a:endParaRPr lang="zh-CN" alt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904656"/>
          </a:xfrm>
        </p:spPr>
        <p:txBody>
          <a:bodyPr numCol="2" spcCol="252000"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词的含义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1" action="ppaction://hlinksldjump"/>
              </a:rPr>
              <a:t>句子含义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hlinkClick r:id="rId1" action="ppaction://hlinksldjump"/>
              </a:rPr>
              <a:t>、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1" action="ppaction://hlinksldjump"/>
              </a:rPr>
              <a:t>下定义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关联词语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r:id="" action="ppaction://noaction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段的作用</a:t>
            </a:r>
            <a:r>
              <a:rPr lang="en-US" altLang="zh-CN" sz="1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1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包括</a:t>
            </a:r>
            <a:r>
              <a:rPr lang="en-US" altLang="zh-CN" sz="1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</a:t>
            </a:r>
            <a:r>
              <a:rPr lang="zh-CN" altLang="en-US" sz="1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意图</a:t>
            </a:r>
            <a:r>
              <a:rPr lang="en-US" altLang="zh-CN" sz="1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sz="1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</a:t>
            </a:r>
            <a:r>
              <a:rPr lang="en-US" altLang="zh-CN" sz="1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”)</a:t>
            </a:r>
            <a:endParaRPr lang="en-US" altLang="zh-CN" sz="19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句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段的赏析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妙处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)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语言特色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运用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表达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表达效果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词语 使用是否妥当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内容 问“是否”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比较、分析不同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同时分析多个关键词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简介题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概括题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题干中另有文字</a:t>
            </a: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分析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评价</a:t>
            </a:r>
            <a:r>
              <a:rPr lang="zh-CN" altLang="en-US" sz="24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作者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对人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事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物的态度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分析过程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怎样一步步描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记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议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…)</a:t>
            </a:r>
            <a:endParaRPr lang="en-US" altLang="zh-CN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hlinkClick r:id="" action="ppaction://noaction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写作思路</a:t>
            </a:r>
            <a:endParaRPr lang="en-US" altLang="zh-C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鉴赏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评价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艺术形象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评价 思想意义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观点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评价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分析 艺术价值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写作特点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探究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推断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动作按钮: 前进或下一项 3">
            <a:hlinkClick r:id="" action="ppaction://noaction" highlightClick="1"/>
          </p:cNvPr>
          <p:cNvSpPr/>
          <p:nvPr/>
        </p:nvSpPr>
        <p:spPr>
          <a:xfrm>
            <a:off x="8244408" y="6165304"/>
            <a:ext cx="504056" cy="50405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96752"/>
            <a:ext cx="8712968" cy="4929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dirty="0" smtClean="0"/>
              <a:t>以上这些我几十年整理积累的东西，</a:t>
            </a:r>
            <a:endParaRPr lang="en-US" altLang="zh-CN" sz="3600" dirty="0" smtClean="0"/>
          </a:p>
          <a:p>
            <a:pPr marL="0" indent="0">
              <a:buNone/>
            </a:pPr>
            <a:r>
              <a:rPr lang="en-US" altLang="zh-CN" sz="3600" dirty="0"/>
              <a:t> </a:t>
            </a:r>
            <a:r>
              <a:rPr lang="en-US" altLang="zh-CN" sz="3600" dirty="0" smtClean="0"/>
              <a:t>        </a:t>
            </a:r>
            <a:r>
              <a:rPr lang="zh-CN" altLang="en-US" sz="3600" dirty="0" smtClean="0"/>
              <a:t>我直接发给同学们如何？</a:t>
            </a:r>
            <a:endParaRPr lang="en-US" altLang="zh-CN" sz="3600" dirty="0" smtClean="0"/>
          </a:p>
          <a:p>
            <a:pPr marL="0" indent="0">
              <a:buNone/>
            </a:pPr>
            <a:r>
              <a:rPr lang="en-US" altLang="zh-CN" sz="3600" dirty="0" smtClean="0"/>
              <a:t>——</a:t>
            </a:r>
            <a:r>
              <a:rPr lang="zh-CN" altLang="en-US" sz="3600" dirty="0" smtClean="0"/>
              <a:t>有用吗？</a:t>
            </a:r>
            <a:endParaRPr lang="en-US" altLang="zh-CN" sz="3600" dirty="0" smtClean="0"/>
          </a:p>
          <a:p>
            <a:pPr marL="0" indent="0">
              <a:buNone/>
            </a:pPr>
            <a:r>
              <a:rPr lang="en-US" altLang="zh-CN" sz="3600" dirty="0"/>
              <a:t> </a:t>
            </a:r>
            <a:r>
              <a:rPr lang="en-US" altLang="zh-CN" sz="3600" dirty="0" smtClean="0"/>
              <a:t>        </a:t>
            </a:r>
            <a:r>
              <a:rPr lang="zh-CN" altLang="en-US" sz="3600" dirty="0" smtClean="0"/>
              <a:t>打印出来，装订好，</a:t>
            </a:r>
            <a:endParaRPr lang="en-US" altLang="zh-CN" sz="3600" dirty="0" smtClean="0"/>
          </a:p>
          <a:p>
            <a:pPr marL="0" indent="0">
              <a:buNone/>
            </a:pPr>
            <a:r>
              <a:rPr lang="en-US" altLang="zh-CN" sz="3600" dirty="0"/>
              <a:t> </a:t>
            </a:r>
            <a:r>
              <a:rPr lang="en-US" altLang="zh-CN" sz="3600" dirty="0" smtClean="0"/>
              <a:t>          </a:t>
            </a:r>
            <a:r>
              <a:rPr lang="zh-CN" altLang="en-US" sz="3600" dirty="0" smtClean="0"/>
              <a:t>好像似乎这些东西就是自己的了？！</a:t>
            </a:r>
            <a:endParaRPr lang="en-US" altLang="zh-CN" sz="3600" dirty="0" smtClean="0"/>
          </a:p>
          <a:p>
            <a:pPr marL="228600" lvl="0" indent="-228600">
              <a:spcBef>
                <a:spcPts val="1000"/>
              </a:spcBef>
            </a:pPr>
            <a:r>
              <a:rPr lang="zh-CN" altLang="en-US" sz="3600" b="1" dirty="0">
                <a:solidFill>
                  <a:prstClr val="black"/>
                </a:solidFill>
                <a:latin typeface="宋体" panose="02010600030101010101" pitchFamily="2" charset="-122"/>
              </a:rPr>
              <a:t>没有别人给的宝典，只有</a:t>
            </a:r>
            <a:r>
              <a:rPr lang="zh-CN" altLang="en-US" sz="3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自己炼出</a:t>
            </a:r>
            <a:r>
              <a:rPr lang="zh-CN" altLang="en-US" sz="3600" b="1" u="sng" dirty="0">
                <a:solidFill>
                  <a:prstClr val="black"/>
                </a:solidFill>
                <a:latin typeface="宋体" panose="02010600030101010101" pitchFamily="2" charset="-122"/>
              </a:rPr>
              <a:t>的宝典</a:t>
            </a:r>
            <a:endParaRPr lang="en-US" altLang="zh-CN" sz="3600" b="1" u="sng" dirty="0">
              <a:solidFill>
                <a:prstClr val="black"/>
              </a:solidFill>
              <a:latin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3600" dirty="0" smtClean="0"/>
          </a:p>
          <a:p>
            <a:pPr marL="0" indent="0">
              <a:buNone/>
            </a:pPr>
            <a:endParaRPr lang="en-US" altLang="zh-CN" sz="3600" dirty="0"/>
          </a:p>
          <a:p>
            <a:pPr marL="0" indent="0">
              <a:buNone/>
            </a:pPr>
            <a:endParaRPr lang="zh-CN" altLang="en-US" sz="3600" dirty="0"/>
          </a:p>
        </p:txBody>
      </p:sp>
      <p:sp>
        <p:nvSpPr>
          <p:cNvPr id="4" name="标题 1"/>
          <p:cNvSpPr txBox="1"/>
          <p:nvPr/>
        </p:nvSpPr>
        <p:spPr>
          <a:xfrm>
            <a:off x="0" y="0"/>
            <a:ext cx="9144000" cy="998984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prstClr val="black"/>
                </a:solidFill>
              </a:rPr>
              <a:t>宝典？！ 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20080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  <a:defRPr/>
            </a:pPr>
            <a:r>
              <a:rPr lang="zh-CN" altLang="en-US" b="1" dirty="0" smtClean="0"/>
              <a:t>语文如何学习</a:t>
            </a:r>
            <a:endParaRPr lang="zh-CN" alt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746310"/>
            <a:ext cx="9144000" cy="5927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lnSpc>
                <a:spcPts val="35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3200" b="1" dirty="0">
                <a:solidFill>
                  <a:srgbClr val="FF0000"/>
                </a:solidFill>
              </a:rPr>
              <a:t>教师的作用并不大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lvl="0" eaLnBrk="0" fontAlgn="base" hangingPunct="0">
              <a:lnSpc>
                <a:spcPts val="3500"/>
              </a:lnSpc>
              <a:defRPr/>
            </a:pPr>
            <a:r>
              <a:rPr lang="zh-CN" altLang="en-US" sz="2000" b="1" dirty="0"/>
              <a:t>           </a:t>
            </a:r>
            <a:r>
              <a:rPr lang="zh-CN" altLang="en-US" sz="2600" b="1" dirty="0" smtClean="0"/>
              <a:t>所谓</a:t>
            </a:r>
            <a:r>
              <a:rPr lang="zh-CN" altLang="en-US" sz="2600" b="1" dirty="0"/>
              <a:t>的</a:t>
            </a:r>
            <a:r>
              <a:rPr lang="zh-CN" altLang="en-US" sz="2600" b="1" u="sng" dirty="0"/>
              <a:t>好教师</a:t>
            </a:r>
            <a:r>
              <a:rPr lang="zh-CN" altLang="en-US" sz="2600" b="1" dirty="0"/>
              <a:t>和</a:t>
            </a:r>
            <a:r>
              <a:rPr lang="zh-CN" altLang="en-US" sz="2600" b="1" u="sng" dirty="0"/>
              <a:t>差教师</a:t>
            </a:r>
            <a:r>
              <a:rPr lang="zh-CN" altLang="en-US" sz="2600" b="1" dirty="0"/>
              <a:t>的差别其实并不大</a:t>
            </a:r>
            <a:endParaRPr lang="en-US" altLang="zh-CN" sz="2600" b="1" dirty="0"/>
          </a:p>
          <a:p>
            <a:pPr lvl="0" eaLnBrk="0" fontAlgn="base" hangingPunct="0">
              <a:lnSpc>
                <a:spcPts val="3500"/>
              </a:lnSpc>
              <a:defRPr/>
            </a:pPr>
            <a:r>
              <a:rPr lang="en-US" altLang="zh-CN" sz="2600" b="1" dirty="0"/>
              <a:t>        </a:t>
            </a:r>
            <a:r>
              <a:rPr lang="zh-CN" altLang="en-US" sz="2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名师 </a:t>
            </a:r>
            <a:r>
              <a:rPr lang="zh-CN" altLang="en-US" sz="2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高师 点拨</a:t>
            </a:r>
            <a:r>
              <a:rPr lang="zh-CN" altLang="en-US" sz="2600" b="1" dirty="0"/>
              <a:t>，能</a:t>
            </a:r>
            <a:r>
              <a:rPr lang="zh-CN" altLang="en-US" sz="2600" b="1" u="sng" dirty="0"/>
              <a:t>点石成金</a:t>
            </a:r>
            <a:r>
              <a:rPr lang="zh-CN" altLang="en-US" sz="2600" b="1" dirty="0"/>
              <a:t>？</a:t>
            </a:r>
            <a:endParaRPr lang="en-US" altLang="zh-CN" sz="2600" b="1" dirty="0"/>
          </a:p>
          <a:p>
            <a:pPr lvl="0" eaLnBrk="0" fontAlgn="base" hangingPunct="0">
              <a:lnSpc>
                <a:spcPts val="3500"/>
              </a:lnSpc>
              <a:defRPr/>
            </a:pPr>
            <a:r>
              <a:rPr lang="en-US" altLang="zh-CN" sz="2600" b="1" dirty="0"/>
              <a:t>        </a:t>
            </a:r>
            <a:r>
              <a:rPr lang="zh-CN" altLang="en-US" sz="2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学生自己 想动 真动 认真动 坚持动</a:t>
            </a:r>
            <a:r>
              <a:rPr lang="zh-CN" altLang="en-US" sz="2600" b="1" dirty="0" smtClean="0"/>
              <a:t>，</a:t>
            </a:r>
            <a:r>
              <a:rPr lang="zh-CN" altLang="en-US" sz="2600" b="1" dirty="0"/>
              <a:t>教师才能</a:t>
            </a:r>
            <a:r>
              <a:rPr lang="zh-CN" altLang="en-US" sz="2600" b="1" dirty="0" smtClean="0"/>
              <a:t>发挥些</a:t>
            </a:r>
            <a:r>
              <a:rPr lang="zh-CN" altLang="en-US" sz="2600" b="1" dirty="0"/>
              <a:t>效力</a:t>
            </a:r>
            <a:endParaRPr lang="en-US" altLang="zh-CN" sz="2600" b="1" dirty="0"/>
          </a:p>
          <a:p>
            <a:pPr marL="342900" indent="-342900" eaLnBrk="0" fontAlgn="base" hangingPunct="0">
              <a:lnSpc>
                <a:spcPts val="35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意志品质</a:t>
            </a:r>
            <a:r>
              <a:rPr lang="zh-CN" altLang="en-US" sz="3200" b="1" dirty="0">
                <a:solidFill>
                  <a:prstClr val="black"/>
                </a:solidFill>
              </a:rPr>
              <a:t>至关重要</a:t>
            </a:r>
            <a:endParaRPr lang="en-US" altLang="zh-C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500"/>
              </a:lnSpc>
              <a:defRPr/>
            </a:pPr>
            <a:r>
              <a:rPr lang="zh-CN" altLang="en-US" sz="3200" b="1" dirty="0">
                <a:solidFill>
                  <a:srgbClr val="FF0000"/>
                </a:solidFill>
              </a:rPr>
              <a:t>  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    </a:t>
            </a: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熟</a:t>
            </a:r>
            <a:r>
              <a:rPr lang="zh-CN" altLang="en-US" sz="3200" b="1" dirty="0">
                <a:solidFill>
                  <a:srgbClr val="FF0000"/>
                </a:solidFill>
              </a:rPr>
              <a:t>才能生</a:t>
            </a:r>
            <a:r>
              <a:rPr lang="zh-CN" altLang="en-US" sz="3200" b="1" u="sng" dirty="0">
                <a:solidFill>
                  <a:srgbClr val="FF0000"/>
                </a:solidFill>
              </a:rPr>
              <a:t>巧</a:t>
            </a:r>
            <a:r>
              <a:rPr lang="en-US" altLang="zh-CN" sz="3200" b="1" dirty="0">
                <a:solidFill>
                  <a:srgbClr val="FF0000"/>
                </a:solidFill>
              </a:rPr>
              <a:t>——</a:t>
            </a:r>
            <a:r>
              <a:rPr lang="zh-CN" altLang="en-US" sz="3200" b="1" dirty="0">
                <a:solidFill>
                  <a:srgbClr val="FF0000"/>
                </a:solidFill>
              </a:rPr>
              <a:t>在</a:t>
            </a: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实践</a:t>
            </a:r>
            <a:r>
              <a:rPr lang="zh-CN" altLang="en-US" sz="3200" b="1" dirty="0">
                <a:solidFill>
                  <a:srgbClr val="FF0000"/>
                </a:solidFill>
              </a:rPr>
              <a:t>中提高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lvl="0">
              <a:lnSpc>
                <a:spcPts val="3500"/>
              </a:lnSpc>
              <a:defRPr/>
            </a:pPr>
            <a:r>
              <a:rPr lang="zh-CN" altLang="en-US" sz="2000" b="1" dirty="0">
                <a:solidFill>
                  <a:prstClr val="black"/>
                </a:solidFill>
              </a:rPr>
              <a:t>                </a:t>
            </a:r>
            <a:r>
              <a:rPr lang="zh-CN" altLang="en-US" sz="26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聪明</a:t>
            </a:r>
            <a:r>
              <a:rPr lang="zh-CN" altLang="en-US" sz="2600" b="1" dirty="0">
                <a:solidFill>
                  <a:prstClr val="black"/>
                </a:solidFill>
              </a:rPr>
              <a:t>？</a:t>
            </a:r>
            <a:r>
              <a:rPr lang="en-US" altLang="zh-CN" sz="2600" b="1" dirty="0">
                <a:solidFill>
                  <a:prstClr val="black"/>
                </a:solidFill>
              </a:rPr>
              <a:t>——</a:t>
            </a:r>
            <a:r>
              <a:rPr lang="zh-CN" altLang="en-US" sz="2600" b="1" dirty="0"/>
              <a:t>都是吃优质蛋白质长大的，谁不聪明？</a:t>
            </a:r>
            <a:endParaRPr lang="en-US" altLang="zh-CN" sz="2600" b="1" dirty="0"/>
          </a:p>
          <a:p>
            <a:pPr lvl="0">
              <a:lnSpc>
                <a:spcPts val="3500"/>
              </a:lnSpc>
              <a:defRPr/>
            </a:pPr>
            <a:r>
              <a:rPr lang="zh-CN" altLang="en-US" sz="2600" b="1" dirty="0"/>
              <a:t>            </a:t>
            </a:r>
            <a:r>
              <a:rPr lang="zh-CN" altLang="en-US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听</a:t>
            </a:r>
            <a:r>
              <a:rPr lang="zh-CN" altLang="en-US" sz="2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懂了</a:t>
            </a:r>
            <a:r>
              <a:rPr lang="zh-CN" altLang="en-US" sz="2600" b="1" dirty="0"/>
              <a:t>不等于</a:t>
            </a:r>
            <a:r>
              <a:rPr lang="zh-CN" altLang="en-US" sz="2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做得出</a:t>
            </a:r>
            <a:r>
              <a:rPr lang="zh-CN" altLang="en-US" sz="2000" b="1" dirty="0"/>
              <a:t>（比如学车、游泳</a:t>
            </a:r>
            <a:r>
              <a:rPr lang="en-US" altLang="zh-CN" sz="2000" b="1" dirty="0"/>
              <a:t>……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0">
              <a:lnSpc>
                <a:spcPts val="3500"/>
              </a:lnSpc>
              <a:defRPr/>
            </a:pPr>
            <a:r>
              <a:rPr lang="en-US" altLang="zh-CN" sz="2600" b="1" dirty="0"/>
              <a:t>            </a:t>
            </a:r>
            <a:r>
              <a:rPr lang="en-US" altLang="zh-CN" sz="2600" b="1" dirty="0" smtClean="0"/>
              <a:t>    </a:t>
            </a:r>
            <a:r>
              <a:rPr lang="zh-CN" altLang="en-US" sz="2600" b="1" dirty="0" smtClean="0"/>
              <a:t>答案</a:t>
            </a:r>
            <a:r>
              <a:rPr lang="zh-CN" altLang="en-US" sz="2600" b="1" dirty="0"/>
              <a:t>就在文本里，你</a:t>
            </a:r>
            <a:r>
              <a:rPr lang="zh-CN" altLang="en-US" sz="2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认真读</a:t>
            </a:r>
            <a:r>
              <a:rPr lang="zh-CN" altLang="en-US" sz="2600" b="1" dirty="0"/>
              <a:t>了吗？</a:t>
            </a:r>
            <a:endParaRPr lang="en-US" altLang="zh-CN" sz="2600" b="1" dirty="0"/>
          </a:p>
          <a:p>
            <a:pPr lvl="0">
              <a:lnSpc>
                <a:spcPts val="3500"/>
              </a:lnSpc>
              <a:defRPr/>
            </a:pPr>
            <a:r>
              <a:rPr lang="en-US" altLang="zh-CN" sz="2600" b="1" dirty="0"/>
              <a:t>            </a:t>
            </a:r>
            <a:r>
              <a:rPr lang="en-US" altLang="zh-CN" sz="2600" b="1" dirty="0" smtClean="0"/>
              <a:t>    </a:t>
            </a:r>
            <a:r>
              <a:rPr lang="zh-CN" altLang="en-US" sz="2600" b="1" dirty="0" smtClean="0"/>
              <a:t>都</a:t>
            </a:r>
            <a:r>
              <a:rPr lang="zh-CN" altLang="en-US" sz="2600" b="1" dirty="0"/>
              <a:t>做</a:t>
            </a:r>
            <a:r>
              <a:rPr lang="zh-CN" altLang="en-US" sz="2600" b="1" dirty="0" smtClean="0"/>
              <a:t>了</a:t>
            </a:r>
            <a:r>
              <a:rPr lang="en-US" altLang="zh-CN" sz="2600" b="1" dirty="0" smtClean="0"/>
              <a:t>50</a:t>
            </a:r>
            <a:r>
              <a:rPr lang="zh-CN" altLang="en-US" sz="2600" b="1" dirty="0" smtClean="0"/>
              <a:t>篇</a:t>
            </a:r>
            <a:r>
              <a:rPr lang="zh-CN" altLang="en-US" sz="2600" b="1" dirty="0"/>
              <a:t>古文了，还不行，你每篇都</a:t>
            </a:r>
            <a:r>
              <a:rPr lang="zh-CN" altLang="en-US" sz="2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认真做</a:t>
            </a:r>
            <a:r>
              <a:rPr lang="zh-CN" altLang="en-US" sz="2600" b="1" dirty="0"/>
              <a:t>了吗？</a:t>
            </a:r>
            <a:endParaRPr lang="en-US" altLang="zh-CN" sz="2600" b="1" dirty="0"/>
          </a:p>
          <a:p>
            <a:pPr lvl="0">
              <a:lnSpc>
                <a:spcPts val="3500"/>
              </a:lnSpc>
              <a:defRPr/>
            </a:pPr>
            <a:r>
              <a:rPr lang="zh-CN" altLang="en-US" sz="2600" b="1" dirty="0"/>
              <a:t>     </a:t>
            </a:r>
            <a:r>
              <a:rPr lang="zh-CN" altLang="en-US" sz="28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实践操练</a:t>
            </a:r>
            <a:r>
              <a:rPr lang="en-US" altLang="zh-CN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反思总结 </a:t>
            </a:r>
            <a:r>
              <a:rPr lang="zh-CN" altLang="en-US" sz="2800" b="1" dirty="0"/>
              <a:t>→ </a:t>
            </a:r>
            <a:r>
              <a:rPr lang="zh-CN" altLang="en-US" sz="2800" b="1" dirty="0">
                <a:solidFill>
                  <a:srgbClr val="FF0000"/>
                </a:solidFill>
              </a:rPr>
              <a:t>熟能生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巧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(= </a:t>
            </a:r>
            <a:r>
              <a:rPr lang="zh-CN" altLang="en-US" sz="2800" b="1" dirty="0">
                <a:solidFill>
                  <a:srgbClr val="FF0000"/>
                </a:solidFill>
              </a:rPr>
              <a:t>语感、能力</a:t>
            </a:r>
            <a:r>
              <a:rPr lang="en-US" altLang="zh-CN" sz="2800" b="1" dirty="0"/>
              <a:t>)</a:t>
            </a:r>
            <a:endParaRPr lang="zh-CN" altLang="en-US" sz="2800" b="1" dirty="0"/>
          </a:p>
          <a:p>
            <a:pPr lvl="0">
              <a:lnSpc>
                <a:spcPts val="3500"/>
              </a:lnSpc>
              <a:defRPr/>
            </a:pPr>
            <a:r>
              <a:rPr lang="en-US" altLang="zh-CN" sz="2400" b="1" dirty="0"/>
              <a:t>  </a:t>
            </a:r>
            <a:r>
              <a:rPr lang="en-US" altLang="zh-CN" sz="2400" b="1" dirty="0" smtClean="0"/>
              <a:t>        </a:t>
            </a:r>
            <a:r>
              <a:rPr lang="en-US" altLang="zh-CN" sz="2600" b="1" dirty="0" smtClean="0"/>
              <a:t>《</a:t>
            </a:r>
            <a:r>
              <a:rPr lang="zh-CN" altLang="en-US" sz="2600" b="1" dirty="0"/>
              <a:t>大闹天宫</a:t>
            </a:r>
            <a:r>
              <a:rPr lang="en-US" altLang="zh-CN" sz="2600" b="1" dirty="0"/>
              <a:t>》</a:t>
            </a:r>
            <a:r>
              <a:rPr lang="zh-CN" altLang="en-US" sz="2600" b="1" dirty="0"/>
              <a:t>孙悟空</a:t>
            </a:r>
            <a:r>
              <a:rPr lang="en-US" altLang="zh-CN" sz="2600" b="1" dirty="0"/>
              <a:t>——</a:t>
            </a:r>
            <a:r>
              <a:rPr lang="zh-CN" altLang="en-US" sz="2600" b="1" dirty="0"/>
              <a:t>“孩儿们，</a:t>
            </a:r>
            <a:r>
              <a:rPr lang="zh-CN" altLang="en-US" sz="2600" b="1" u="sng" dirty="0">
                <a:solidFill>
                  <a:srgbClr val="FF0000"/>
                </a:solidFill>
              </a:rPr>
              <a:t>操练起来</a:t>
            </a:r>
            <a:r>
              <a:rPr lang="zh-CN" altLang="en-US" sz="2600" b="1" dirty="0"/>
              <a:t>！”</a:t>
            </a:r>
            <a:endParaRPr lang="en-US" altLang="zh-CN" sz="2600" b="1" dirty="0"/>
          </a:p>
          <a:p>
            <a:pPr lvl="0">
              <a:lnSpc>
                <a:spcPts val="3500"/>
              </a:lnSpc>
              <a:defRPr/>
            </a:pPr>
            <a:r>
              <a:rPr lang="en-US" altLang="zh-CN" sz="2400" b="1" dirty="0"/>
              <a:t>    </a:t>
            </a:r>
            <a:r>
              <a:rPr lang="en-US" altLang="zh-CN" sz="2400" b="1" dirty="0" smtClean="0"/>
              <a:t>                                                     </a:t>
            </a:r>
            <a:r>
              <a:rPr lang="zh-CN" altLang="en-US" sz="2400" b="1" dirty="0" smtClean="0"/>
              <a:t>→</a:t>
            </a:r>
            <a:r>
              <a:rPr lang="zh-CN" alt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坚持不懈地认真操练 钻研</a:t>
            </a:r>
            <a:endParaRPr lang="zh-CN" altLang="en-US" sz="32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8256"/>
            <a:ext cx="9144000" cy="1143000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lvl="0"/>
            <a:r>
              <a:rPr lang="zh-CN" altLang="zh-CN" sz="3600" b="1" dirty="0" smtClean="0"/>
              <a:t>语文</a:t>
            </a:r>
            <a:r>
              <a:rPr lang="zh-CN" altLang="en-US" sz="3600" b="1" dirty="0"/>
              <a:t>学习</a:t>
            </a:r>
            <a:r>
              <a:rPr lang="zh-CN" altLang="zh-CN" sz="3600" b="1" dirty="0" smtClean="0"/>
              <a:t>内容分</a:t>
            </a:r>
            <a:br>
              <a:rPr lang="en-US" altLang="zh-CN" sz="3600" b="1" dirty="0" smtClean="0"/>
            </a:br>
            <a:r>
              <a:rPr lang="zh-CN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zh-CN" altLang="zh-CN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死的</a:t>
            </a:r>
            <a:r>
              <a:rPr lang="zh-CN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zh-CN" altLang="zh-CN" sz="3600" b="1" dirty="0" smtClean="0"/>
              <a:t>与“</a:t>
            </a:r>
            <a:r>
              <a:rPr lang="zh-CN" altLang="zh-CN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活的</a:t>
            </a:r>
            <a:r>
              <a:rPr lang="zh-CN" altLang="zh-CN" sz="3600" b="1" dirty="0" smtClean="0"/>
              <a:t>”内容——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96752"/>
            <a:ext cx="8892480" cy="54726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“死的”东西</a:t>
            </a:r>
            <a:r>
              <a:rPr lang="zh-CN" altLang="en-US" sz="2600" b="1" dirty="0" smtClean="0"/>
              <a:t>，</a:t>
            </a:r>
            <a:r>
              <a:rPr lang="zh-CN" altLang="zh-CN" sz="2600" b="1" dirty="0" smtClean="0"/>
              <a:t>包括</a:t>
            </a:r>
            <a:r>
              <a:rPr lang="zh-CN" altLang="zh-CN" sz="2600" b="1" u="sng" dirty="0" smtClean="0">
                <a:solidFill>
                  <a:srgbClr val="FF0000"/>
                </a:solidFill>
              </a:rPr>
              <a:t>背诵默写</a:t>
            </a:r>
            <a:r>
              <a:rPr lang="zh-CN" altLang="en-US" sz="2600" b="1" dirty="0" smtClean="0"/>
              <a:t>，</a:t>
            </a:r>
            <a:r>
              <a:rPr lang="zh-CN" altLang="en-US" sz="2600" b="1" u="sng" dirty="0" smtClean="0">
                <a:solidFill>
                  <a:srgbClr val="FF0000"/>
                </a:solidFill>
              </a:rPr>
              <a:t>作家作品、文学文化常识</a:t>
            </a:r>
            <a:r>
              <a:rPr lang="zh-CN" altLang="en-US" sz="2600" b="1" dirty="0" smtClean="0"/>
              <a:t>，</a:t>
            </a:r>
            <a:r>
              <a:rPr lang="zh-CN" altLang="en-US" sz="2600" b="1" u="sng" dirty="0" smtClean="0">
                <a:solidFill>
                  <a:srgbClr val="FF0000"/>
                </a:solidFill>
              </a:rPr>
              <a:t>文言词</a:t>
            </a:r>
            <a:r>
              <a:rPr lang="en-US" altLang="zh-CN" sz="2600" b="1" u="sng" dirty="0" smtClean="0">
                <a:solidFill>
                  <a:srgbClr val="FF0000"/>
                </a:solidFill>
              </a:rPr>
              <a:t>300+</a:t>
            </a:r>
            <a:r>
              <a:rPr lang="zh-CN" altLang="en-US" sz="2600" b="1" u="sng" dirty="0" smtClean="0">
                <a:solidFill>
                  <a:srgbClr val="FF0000"/>
                </a:solidFill>
              </a:rPr>
              <a:t>虚词</a:t>
            </a:r>
            <a:r>
              <a:rPr lang="zh-CN" altLang="en-US" sz="2600" b="1" dirty="0" smtClean="0"/>
              <a:t>，</a:t>
            </a:r>
            <a:r>
              <a:rPr lang="zh-CN" altLang="zh-CN" sz="2600" b="1" u="sng" dirty="0" smtClean="0">
                <a:solidFill>
                  <a:srgbClr val="FF0000"/>
                </a:solidFill>
              </a:rPr>
              <a:t>知识点（成系统的）</a:t>
            </a:r>
            <a:r>
              <a:rPr lang="zh-CN" altLang="en-US" sz="2600" b="1" dirty="0" smtClean="0"/>
              <a:t>，</a:t>
            </a:r>
            <a:r>
              <a:rPr lang="zh-CN" altLang="zh-CN" sz="2600" b="1" u="sng" dirty="0" smtClean="0">
                <a:solidFill>
                  <a:srgbClr val="FF0000"/>
                </a:solidFill>
              </a:rPr>
              <a:t>解题</a:t>
            </a:r>
            <a:r>
              <a:rPr lang="zh-CN" altLang="en-US" sz="2600" b="1" u="sng" dirty="0" smtClean="0">
                <a:solidFill>
                  <a:srgbClr val="FF0000"/>
                </a:solidFill>
              </a:rPr>
              <a:t>步骤</a:t>
            </a:r>
            <a:r>
              <a:rPr lang="zh-CN" altLang="zh-CN" sz="2600" b="1" u="sng" dirty="0" smtClean="0">
                <a:solidFill>
                  <a:srgbClr val="FF0000"/>
                </a:solidFill>
              </a:rPr>
              <a:t>套路</a:t>
            </a:r>
            <a:r>
              <a:rPr lang="zh-CN" altLang="zh-CN" sz="2600" b="1" dirty="0" smtClean="0"/>
              <a:t>等。是打底的，也是“活的”东西的基础。</a:t>
            </a:r>
            <a:endParaRPr lang="en-US" altLang="zh-CN" sz="2600" b="1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知识点、</a:t>
            </a:r>
            <a:r>
              <a:rPr lang="zh-CN" altLang="zh-CN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解题</a:t>
            </a:r>
            <a:r>
              <a:rPr lang="zh-CN" altLang="en-US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步骤</a:t>
            </a:r>
            <a:r>
              <a:rPr lang="zh-CN" altLang="zh-CN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套路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(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加范例</a:t>
            </a:r>
            <a:r>
              <a:rPr lang="en-US" altLang="zh-CN" sz="2600" b="1" dirty="0" smtClean="0">
                <a:solidFill>
                  <a:srgbClr val="FF0000"/>
                </a:solidFill>
              </a:rPr>
              <a:t>)</a:t>
            </a:r>
            <a:r>
              <a:rPr lang="zh-CN" altLang="en-US" sz="2600" b="1" u="sng" dirty="0" smtClean="0">
                <a:solidFill>
                  <a:srgbClr val="FF0000"/>
                </a:solidFill>
              </a:rPr>
              <a:t>，</a:t>
            </a:r>
            <a:r>
              <a:rPr lang="zh-CN" altLang="en-US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</a:t>
            </a:r>
            <a:r>
              <a:rPr lang="zh-CN" altLang="en-US" sz="2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单独用</a:t>
            </a:r>
            <a:r>
              <a:rPr lang="zh-CN" altLang="en-US" sz="2600" b="1" u="sng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笔记本</a:t>
            </a:r>
            <a:r>
              <a:rPr lang="zh-CN" altLang="en-US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记录，要</a:t>
            </a:r>
            <a:r>
              <a:rPr lang="zh-CN" altLang="en-US" sz="2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了然于心、滚瓜烂熟</a:t>
            </a:r>
            <a:r>
              <a:rPr lang="zh-CN" altLang="en-US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，才能</a:t>
            </a:r>
            <a:r>
              <a:rPr lang="zh-CN" altLang="en-US" sz="2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化知识为解题能力</a:t>
            </a:r>
            <a:endParaRPr lang="zh-CN" altLang="en-US" sz="26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600" b="1" u="sng" dirty="0" smtClean="0"/>
              <a:t> </a:t>
            </a:r>
            <a:r>
              <a:rPr lang="zh-CN" altLang="zh-CN" sz="2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“活的”东西</a:t>
            </a:r>
            <a:r>
              <a:rPr lang="zh-CN" altLang="en-US" sz="2600" b="1" dirty="0"/>
              <a:t>，</a:t>
            </a:r>
            <a:r>
              <a:rPr lang="zh-CN" altLang="zh-CN" sz="2600" b="1" dirty="0" smtClean="0"/>
              <a:t>包括现代文阅读理解、作文等。老师在堂上会指引学生熟悉题型、传授解题套路。</a:t>
            </a:r>
            <a:endParaRPr lang="en-US" altLang="zh-CN" sz="2600" b="1" dirty="0" smtClean="0"/>
          </a:p>
          <a:p>
            <a:pPr>
              <a:lnSpc>
                <a:spcPct val="150000"/>
              </a:lnSpc>
              <a:buNone/>
            </a:pPr>
            <a:r>
              <a:rPr lang="zh-CN" altLang="zh-CN" sz="2600" b="1" dirty="0" smtClean="0"/>
              <a:t>但光懂理论是没用的，</a:t>
            </a:r>
            <a:r>
              <a:rPr lang="zh-CN" altLang="zh-CN" sz="2600" b="1" u="sng" dirty="0" smtClean="0">
                <a:solidFill>
                  <a:srgbClr val="FF0000"/>
                </a:solidFill>
              </a:rPr>
              <a:t>关键</a:t>
            </a:r>
            <a:r>
              <a:rPr lang="zh-CN" altLang="zh-CN" sz="2600" b="1" dirty="0" smtClean="0">
                <a:solidFill>
                  <a:srgbClr val="FF0000"/>
                </a:solidFill>
              </a:rPr>
              <a:t>是要</a:t>
            </a:r>
            <a:r>
              <a:rPr lang="zh-CN" altLang="zh-CN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学生自己</a:t>
            </a:r>
            <a:r>
              <a:rPr lang="zh-CN" altLang="en-US" sz="2600" b="1" dirty="0">
                <a:solidFill>
                  <a:srgbClr val="FF0000"/>
                </a:solidFill>
              </a:rPr>
              <a:t>要</a:t>
            </a:r>
            <a:r>
              <a:rPr lang="zh-CN" altLang="en-US" sz="26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</a:t>
            </a:r>
            <a:r>
              <a:rPr lang="zh-CN" altLang="en-US" sz="2600" b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阅读、勤思考、不断训练</a:t>
            </a:r>
            <a:r>
              <a:rPr lang="zh-CN" altLang="zh-CN" sz="2600" b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多做题</a:t>
            </a:r>
            <a:r>
              <a:rPr lang="zh-CN" altLang="zh-CN" sz="26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，在实践中提高</a:t>
            </a:r>
            <a:r>
              <a:rPr lang="zh-CN" altLang="zh-CN" sz="2600" b="1" dirty="0" smtClean="0"/>
              <a:t>。</a:t>
            </a:r>
            <a:endParaRPr lang="zh-CN" altLang="zh-CN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340768"/>
            <a:ext cx="8915400" cy="513623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zh-CN" b="1" dirty="0" smtClean="0"/>
              <a:t>——</a:t>
            </a:r>
            <a:r>
              <a:rPr lang="zh-CN" altLang="en-US" b="1" dirty="0" smtClean="0"/>
              <a:t>不</a:t>
            </a:r>
            <a:r>
              <a:rPr lang="zh-CN" altLang="en-US" b="1" dirty="0"/>
              <a:t>因善小而不为：九层之台，起于垒土。必须从记诵这样的最小处入手，改变自己对基础能力的漠视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b="1" dirty="0"/>
              <a:t>——</a:t>
            </a:r>
            <a:r>
              <a:rPr lang="zh-CN" altLang="en-US" b="1" dirty="0" smtClean="0"/>
              <a:t>不</a:t>
            </a:r>
            <a:r>
              <a:rPr lang="zh-CN" altLang="en-US" b="1" dirty="0"/>
              <a:t>动手是不可能提高的。听懂了不等于做得出</a:t>
            </a:r>
            <a:r>
              <a:rPr lang="zh-CN" altLang="en-US" b="1" dirty="0" smtClean="0"/>
              <a:t>。上课</a:t>
            </a:r>
            <a:r>
              <a:rPr lang="zh-CN" altLang="en-US" b="1" dirty="0"/>
              <a:t>都听得懂，考试就能拿高分？光听不练是无用的。</a:t>
            </a:r>
            <a:r>
              <a:rPr lang="zh-CN" altLang="en-US" b="1" u="sng" dirty="0">
                <a:solidFill>
                  <a:srgbClr val="FF0000"/>
                </a:solidFill>
              </a:rPr>
              <a:t>熟才能生巧</a:t>
            </a:r>
            <a:r>
              <a:rPr lang="zh-CN" altLang="en-US" b="1" dirty="0"/>
              <a:t>。平时</a:t>
            </a:r>
            <a:r>
              <a:rPr lang="zh-CN" altLang="en-US" b="1" dirty="0">
                <a:solidFill>
                  <a:srgbClr val="0000FF"/>
                </a:solidFill>
              </a:rPr>
              <a:t>上课</a:t>
            </a:r>
            <a:r>
              <a:rPr lang="zh-CN" altLang="en-US" b="1" dirty="0">
                <a:solidFill>
                  <a:srgbClr val="FF0000"/>
                </a:solidFill>
              </a:rPr>
              <a:t>勤思考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0000FF"/>
                </a:solidFill>
              </a:rPr>
              <a:t>回家作业</a:t>
            </a:r>
            <a:r>
              <a:rPr lang="zh-CN" altLang="en-US" b="1" dirty="0">
                <a:solidFill>
                  <a:srgbClr val="FF0000"/>
                </a:solidFill>
              </a:rPr>
              <a:t>勤训练</a:t>
            </a:r>
            <a:r>
              <a:rPr lang="zh-CN" altLang="en-US" b="1" dirty="0"/>
              <a:t>，手熟马快刀利，见惯了战阵，考试时才不会发怵，才能成竹在胸，获得高分</a:t>
            </a:r>
            <a:r>
              <a:rPr lang="zh-CN" altLang="en-US" sz="4000" b="1" dirty="0"/>
              <a:t>。</a:t>
            </a:r>
            <a:endParaRPr lang="zh-CN" altLang="en-US" sz="4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1295400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ctr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避免</a:t>
            </a:r>
            <a:r>
              <a:rPr kumimoji="0" lang="zh-CN" altLang="en-US" sz="4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只听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而</a:t>
            </a:r>
            <a:r>
              <a:rPr kumimoji="0" lang="zh-CN" altLang="en-US" sz="4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不练、不做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9144000" cy="1143000"/>
          </a:xfrm>
          <a:solidFill>
            <a:srgbClr val="FFFF00"/>
          </a:solidFill>
        </p:spPr>
        <p:txBody>
          <a:bodyPr/>
          <a:lstStyle/>
          <a:p>
            <a:r>
              <a:rPr lang="zh-CN" alt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每天重视当天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的语文作业</a:t>
            </a:r>
            <a:endParaRPr lang="zh-CN" alt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书面作业</a:t>
            </a:r>
            <a:r>
              <a:rPr lang="zh-CN" altLang="en-US" b="1" dirty="0"/>
              <a:t>（包括前一次作业的</a:t>
            </a:r>
            <a:r>
              <a:rPr lang="zh-CN" altLang="en-US" b="1" dirty="0">
                <a:solidFill>
                  <a:srgbClr val="FF0000"/>
                </a:solidFill>
              </a:rPr>
              <a:t>订正</a:t>
            </a:r>
            <a:r>
              <a:rPr lang="zh-CN" altLang="en-US" b="1" dirty="0"/>
              <a:t>，很重要）</a:t>
            </a:r>
            <a:endParaRPr lang="zh-CN" altLang="en-US" b="1" dirty="0"/>
          </a:p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非书面作业</a:t>
            </a:r>
            <a:endParaRPr lang="zh-CN" altLang="en-US" b="1" dirty="0">
              <a:solidFill>
                <a:srgbClr val="0000FF"/>
              </a:solidFill>
            </a:endParaRPr>
          </a:p>
          <a:p>
            <a:pPr lvl="1">
              <a:lnSpc>
                <a:spcPct val="140000"/>
              </a:lnSpc>
              <a:buFontTx/>
              <a:buNone/>
            </a:pPr>
            <a:r>
              <a:rPr lang="en-US" altLang="zh-CN" sz="3200" b="1" dirty="0"/>
              <a:t>——</a:t>
            </a:r>
            <a:r>
              <a:rPr lang="zh-CN" altLang="en-US" sz="3200" b="1" dirty="0"/>
              <a:t>要</a:t>
            </a:r>
            <a:r>
              <a:rPr lang="zh-CN" altLang="en-US" sz="3200" b="1" dirty="0">
                <a:solidFill>
                  <a:srgbClr val="FF0000"/>
                </a:solidFill>
              </a:rPr>
              <a:t>背诵、默写</a:t>
            </a:r>
            <a:r>
              <a:rPr lang="zh-CN" altLang="en-US" sz="3200" b="1" dirty="0"/>
              <a:t>的古诗文</a:t>
            </a:r>
            <a:endParaRPr lang="zh-CN" altLang="en-US" sz="3200" b="1" dirty="0"/>
          </a:p>
          <a:p>
            <a:pPr lvl="1">
              <a:lnSpc>
                <a:spcPct val="140000"/>
              </a:lnSpc>
              <a:buFontTx/>
              <a:buNone/>
            </a:pPr>
            <a:r>
              <a:rPr lang="en-US" altLang="zh-CN" sz="3200" b="1" dirty="0"/>
              <a:t>——</a:t>
            </a:r>
            <a:r>
              <a:rPr lang="zh-CN" altLang="en-US" sz="3200" b="1" dirty="0"/>
              <a:t>布置的</a:t>
            </a:r>
            <a:r>
              <a:rPr lang="zh-CN" altLang="en-US" sz="3200" b="1" dirty="0">
                <a:solidFill>
                  <a:srgbClr val="FF0000"/>
                </a:solidFill>
              </a:rPr>
              <a:t>预习思考题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当天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及时复习</a:t>
            </a:r>
            <a:r>
              <a:rPr lang="zh-CN" altLang="en-US" b="1" dirty="0"/>
              <a:t>（做到每天老师讲的东西了然于心、滚瓜烂熟）（知识点是单独用笔记本记录的）</a:t>
            </a:r>
            <a:endParaRPr lang="zh-CN" altLang="en-US" b="1" dirty="0"/>
          </a:p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每周末</a:t>
            </a:r>
            <a:r>
              <a:rPr lang="zh-CN" altLang="en-US" b="1" dirty="0"/>
              <a:t>抽时间</a:t>
            </a:r>
            <a:r>
              <a:rPr lang="zh-CN" altLang="en-US" b="1" dirty="0">
                <a:solidFill>
                  <a:srgbClr val="FF0000"/>
                </a:solidFill>
              </a:rPr>
              <a:t>复习</a:t>
            </a:r>
            <a:r>
              <a:rPr lang="zh-CN" altLang="en-US" b="1" dirty="0"/>
              <a:t>前一周的所有内容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9144000" cy="1512167"/>
          </a:xfrm>
          <a:solidFill>
            <a:srgbClr val="FFFF00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5400" b="1" u="sng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学习态度</a:t>
            </a:r>
            <a:r>
              <a:rPr lang="zh-CN" altLang="en-US" sz="5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自查</a:t>
            </a:r>
            <a:endParaRPr lang="zh-CN" altLang="en-US" sz="5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0" y="1484784"/>
            <a:ext cx="8974832" cy="515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提前布置，当堂要用的学习资料没带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读文章不圈不划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看完文章空白一片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ctr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上课不认真听讲、思考、不记笔记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</a:t>
            </a:r>
            <a:r>
              <a:rPr kumimoji="0" lang="zh-CN" alt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回家不复习巩固</a:t>
            </a:r>
            <a:endParaRPr kumimoji="0" lang="en-US" altLang="zh-CN" sz="2800" b="1" i="0" u="sng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当堂做练习消极对待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回家背默敷衍了事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——</a:t>
            </a:r>
            <a:r>
              <a:rPr kumimoji="0" lang="zh-CN" alt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书面作业迟交、不交</a:t>
            </a:r>
            <a:endParaRPr kumimoji="0" lang="en-US" altLang="zh-CN" sz="2800" b="1" i="0" u="sng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9144000" cy="1301006"/>
          </a:xfrm>
          <a:solidFill>
            <a:srgbClr val="FFFF00"/>
          </a:solidFill>
        </p:spPr>
        <p:txBody>
          <a:bodyPr/>
          <a:lstStyle/>
          <a:p>
            <a:r>
              <a:rPr lang="zh-CN" altLang="en-US" sz="6000" b="1" u="sng" dirty="0" smtClean="0"/>
              <a:t>重视</a:t>
            </a:r>
            <a:r>
              <a:rPr lang="zh-CN" altLang="en-US" sz="6000" b="1" u="sng" dirty="0" smtClean="0">
                <a:solidFill>
                  <a:srgbClr val="FF0000"/>
                </a:solidFill>
              </a:rPr>
              <a:t>字迹</a:t>
            </a:r>
            <a:r>
              <a:rPr lang="zh-CN" altLang="en-US" sz="6000" b="1" u="sng" dirty="0">
                <a:solidFill>
                  <a:srgbClr val="FF0000"/>
                </a:solidFill>
              </a:rPr>
              <a:t>端正</a:t>
            </a:r>
            <a:endParaRPr lang="zh-CN" altLang="en-US" sz="6000" b="1" u="sng" dirty="0">
              <a:solidFill>
                <a:srgbClr val="FF0000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229600" cy="4724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400" b="1" dirty="0"/>
              <a:t>不漂亮没关系，但</a:t>
            </a:r>
            <a:r>
              <a:rPr lang="zh-CN" altLang="en-US" sz="4400" b="1" dirty="0">
                <a:solidFill>
                  <a:srgbClr val="FF0000"/>
                </a:solidFill>
              </a:rPr>
              <a:t>绝不能潦草</a:t>
            </a:r>
            <a:endParaRPr lang="zh-CN" altLang="en-US" sz="4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4400" b="1" dirty="0"/>
              <a:t>以下为高考网上阅卷样张</a:t>
            </a:r>
            <a:br>
              <a:rPr lang="zh-CN" altLang="en-US" sz="4400" b="1" dirty="0"/>
            </a:br>
            <a:endParaRPr lang="zh-CN" altLang="en-US" sz="4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8077200" cy="3687762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6000" b="1" dirty="0"/>
              <a:t>下面一张是</a:t>
            </a:r>
            <a:br>
              <a:rPr lang="zh-CN" altLang="en-US" sz="6000" b="1" dirty="0"/>
            </a:br>
            <a:r>
              <a:rPr lang="zh-CN" altLang="en-US" sz="6000" b="1" dirty="0"/>
              <a:t>字迹</a:t>
            </a:r>
            <a:r>
              <a:rPr lang="zh-CN" altLang="en-US" sz="6000" b="1" dirty="0">
                <a:solidFill>
                  <a:srgbClr val="FF0000"/>
                </a:solidFill>
              </a:rPr>
              <a:t>不好</a:t>
            </a:r>
            <a:r>
              <a:rPr lang="zh-CN" altLang="en-US" sz="6000" b="1" dirty="0"/>
              <a:t>的例子</a:t>
            </a:r>
            <a:endParaRPr lang="zh-CN" altLang="en-US" sz="6000" b="1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91200" y="4495800"/>
            <a:ext cx="2895600" cy="1630363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41988" name="Picture 4" descr="IMG03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08038"/>
            <a:ext cx="8229600" cy="3001962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6000" b="1" dirty="0"/>
              <a:t>下面一张是</a:t>
            </a:r>
            <a:br>
              <a:rPr lang="zh-CN" altLang="en-US" sz="6000" b="1" dirty="0"/>
            </a:br>
            <a:r>
              <a:rPr lang="zh-CN" altLang="en-US" sz="6000" b="1" dirty="0">
                <a:solidFill>
                  <a:srgbClr val="FF0000"/>
                </a:solidFill>
              </a:rPr>
              <a:t>好</a:t>
            </a:r>
            <a:r>
              <a:rPr lang="zh-CN" altLang="en-US" sz="6000" b="1" dirty="0"/>
              <a:t>的例子</a:t>
            </a:r>
            <a:endParaRPr lang="zh-CN" altLang="en-US" sz="6000" b="1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191000"/>
            <a:ext cx="8229600" cy="1935163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43012" name="Picture 4" descr="IMG00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76672"/>
            <a:ext cx="8915400" cy="5943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/>
              <a:t>可想而知，写得水平同样的两篇作文，因为字迹的差别，阅卷老师的印象会有多大的不同，分数当然也会有差别</a:t>
            </a:r>
            <a:r>
              <a:rPr lang="zh-CN" altLang="en-US" sz="3600" b="1" dirty="0" smtClean="0"/>
              <a:t>。</a:t>
            </a:r>
            <a:endParaRPr lang="en-US" altLang="zh-CN" sz="3600" b="1" dirty="0" smtClean="0"/>
          </a:p>
          <a:p>
            <a:pPr>
              <a:lnSpc>
                <a:spcPct val="150000"/>
              </a:lnSpc>
            </a:pPr>
            <a:r>
              <a:rPr lang="zh-CN" altLang="en-US" sz="6000" b="1" dirty="0" smtClean="0"/>
              <a:t>端正 </a:t>
            </a:r>
            <a:r>
              <a:rPr lang="en-US" altLang="zh-CN" sz="6000" b="1" dirty="0" smtClean="0"/>
              <a:t>V </a:t>
            </a:r>
            <a:r>
              <a:rPr lang="zh-CN" altLang="en-US" sz="6000" b="1" dirty="0" smtClean="0"/>
              <a:t>↔ 潦草 </a:t>
            </a:r>
            <a:r>
              <a:rPr lang="en-US" altLang="zh-CN" sz="6000" b="1" dirty="0" smtClean="0"/>
              <a:t>X</a:t>
            </a:r>
            <a:endParaRPr lang="en-US" altLang="zh-CN" sz="6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zh-C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知</a:t>
            </a:r>
            <a:r>
              <a:rPr lang="zh-CN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Times New Roman" panose="02020603050405020304" pitchFamily="18" charset="0"/>
              </a:rPr>
              <a:t>天命尽人事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4000" b="1" dirty="0"/>
          </a:p>
          <a:p>
            <a:pPr marL="0" indent="0">
              <a:buNone/>
            </a:pPr>
            <a:r>
              <a:rPr lang="zh-CN" altLang="en-US" sz="4000" b="1" dirty="0"/>
              <a:t>        青春的美好在于</a:t>
            </a:r>
            <a:r>
              <a:rPr lang="zh-CN" alt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近乎无限的可能性</a:t>
            </a:r>
            <a:r>
              <a:rPr lang="zh-CN" altLang="en-US" sz="4000" b="1" dirty="0"/>
              <a:t>，努力前行创造</a:t>
            </a:r>
            <a:r>
              <a:rPr lang="zh-CN" altLang="en-US" sz="4000" b="1" u="sng" dirty="0"/>
              <a:t>自己</a:t>
            </a:r>
            <a:r>
              <a:rPr lang="zh-CN" altLang="en-US" sz="4000" b="1" u="sng" dirty="0" smtClean="0"/>
              <a:t>的美好未来</a:t>
            </a:r>
            <a:r>
              <a:rPr lang="zh-CN" altLang="en-US" sz="4000" b="1" dirty="0"/>
              <a:t>。</a:t>
            </a:r>
            <a:endParaRPr lang="en-US" altLang="zh-CN" sz="4000" b="1" dirty="0"/>
          </a:p>
          <a:p>
            <a:pPr marL="0" indent="0">
              <a:buNone/>
            </a:pPr>
            <a:r>
              <a:rPr lang="en-US" altLang="zh-CN" sz="4000" b="1" dirty="0"/>
              <a:t>                                         </a:t>
            </a:r>
            <a:r>
              <a:rPr lang="en-US" altLang="zh-CN" sz="4000" b="1" dirty="0" smtClean="0"/>
              <a:t>↑</a:t>
            </a:r>
            <a:endParaRPr lang="en-US" altLang="zh-CN" sz="4000" b="1" dirty="0"/>
          </a:p>
          <a:p>
            <a:pPr marL="0" indent="0">
              <a:buNone/>
            </a:pPr>
            <a:r>
              <a:rPr lang="zh-CN" altLang="en-US" sz="4000" b="1" dirty="0"/>
              <a:t>                                  </a:t>
            </a:r>
            <a:r>
              <a:rPr lang="zh-CN" alt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意志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品质</a:t>
            </a:r>
            <a:endParaRPr lang="en-US" altLang="zh-CN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16472</Words>
  <Application>WPS 演示</Application>
  <PresentationFormat>全屏显示(4:3)</PresentationFormat>
  <Paragraphs>1011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44</vt:i4>
      </vt:variant>
    </vt:vector>
  </HeadingPairs>
  <TitlesOfParts>
    <vt:vector size="64" baseType="lpstr">
      <vt:lpstr>Arial</vt:lpstr>
      <vt:lpstr>宋体</vt:lpstr>
      <vt:lpstr>Wingdings</vt:lpstr>
      <vt:lpstr>Calibri</vt:lpstr>
      <vt:lpstr>Calibri</vt:lpstr>
      <vt:lpstr>等线</vt:lpstr>
      <vt:lpstr>微软雅黑</vt:lpstr>
      <vt:lpstr>Arial Unicode MS</vt:lpstr>
      <vt:lpstr>楷体</vt:lpstr>
      <vt:lpstr>华文隶书</vt:lpstr>
      <vt:lpstr>Times New Roman</vt:lpstr>
      <vt:lpstr>MS PGothic</vt:lpstr>
      <vt:lpstr>Office 主题</vt:lpstr>
      <vt:lpstr>1_Office 主题​​</vt:lpstr>
      <vt:lpstr>1_Office 主题</vt:lpstr>
      <vt:lpstr>2_Office 主题</vt:lpstr>
      <vt:lpstr>3_Office 主题</vt:lpstr>
      <vt:lpstr>4_Office 主题</vt:lpstr>
      <vt:lpstr>4_Office 主题​​</vt:lpstr>
      <vt:lpstr>2_Office 主题​​</vt:lpstr>
      <vt:lpstr>25级28届高一开学第一课</vt:lpstr>
      <vt:lpstr>自我介绍</vt:lpstr>
      <vt:lpstr>PowerPoint 演示文稿</vt:lpstr>
      <vt:lpstr>PowerPoint 演示文稿</vt:lpstr>
      <vt:lpstr>PowerPoint 演示文稿</vt:lpstr>
      <vt:lpstr>PowerPoint 演示文稿</vt:lpstr>
      <vt:lpstr>自我吹嘘？</vt:lpstr>
      <vt:lpstr>对老师要能以理解合作的理性态度对待</vt:lpstr>
      <vt:lpstr>PowerPoint 演示文稿</vt:lpstr>
      <vt:lpstr>听老师的话 + 发挥主观能动性</vt:lpstr>
      <vt:lpstr>养成良好学习习惯</vt:lpstr>
      <vt:lpstr>语文 学什么？</vt:lpstr>
      <vt:lpstr>PowerPoint 演示文稿</vt:lpstr>
      <vt:lpstr>典型问题——正确的废话</vt:lpstr>
      <vt:lpstr>我当初讲评时提的2个大惊小怪之问——</vt:lpstr>
      <vt:lpstr>PowerPoint 演示文稿</vt:lpstr>
      <vt:lpstr>真正的宝典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论证方法   作用 效果 黄51、52</vt:lpstr>
      <vt:lpstr>说明方法  作用效果黄44,16P65</vt:lpstr>
      <vt:lpstr>修辞  效果 黄86        试用本5册附录      *双关、顶真、回环     只需了解</vt:lpstr>
      <vt:lpstr>句式  效果 黄19、53    试用本5册附录   16P23 55</vt:lpstr>
      <vt:lpstr>表现手法1  效果 黄19、61  16P4</vt:lpstr>
      <vt:lpstr>表现手法2  效果 黄19、61  16P4</vt:lpstr>
      <vt:lpstr>语言风格  黄20，黄59,16P5、11 例           古诗16P81 82</vt:lpstr>
      <vt:lpstr>题型与答题套路</vt:lpstr>
      <vt:lpstr>PowerPoint 演示文稿</vt:lpstr>
      <vt:lpstr>语文如何学习</vt:lpstr>
      <vt:lpstr>语文学习内容分 “死的”与“活的”内容——</vt:lpstr>
      <vt:lpstr>PowerPoint 演示文稿</vt:lpstr>
      <vt:lpstr>每天重视当天的语文作业</vt:lpstr>
      <vt:lpstr>学习态度自查</vt:lpstr>
      <vt:lpstr>重视字迹端正</vt:lpstr>
      <vt:lpstr>下面一张是 字迹不好的例子</vt:lpstr>
      <vt:lpstr>PowerPoint 演示文稿</vt:lpstr>
      <vt:lpstr>下面一张是 好的例子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ZW</dc:creator>
  <cp:lastModifiedBy>李羿嵘</cp:lastModifiedBy>
  <cp:revision>157</cp:revision>
  <dcterms:created xsi:type="dcterms:W3CDTF">2016-08-31T15:29:00Z</dcterms:created>
  <dcterms:modified xsi:type="dcterms:W3CDTF">2026-07-08T05:48:54Z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65E008D829254989A0B61266A52357DC_13</vt:lpwstr>
  </property>
  <property fmtid="{D5CDD505-2E9C-101B-9397-08002B2CF9AE}" pid="3" name="KSOProductBuildVer">
    <vt:lpwstr>2052-12.1.0.26375</vt:lpwstr>
  </property>
</Properties>
</file>